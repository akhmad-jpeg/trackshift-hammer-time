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200" b="0" u="none" strike="noStrike">
                <a:solidFill>
                  <a:srgbClr val="1a1a2e"/>
                </a:solidFill>
                <a:uFillTx/>
                <a:latin typeface="Arial"/>
              </a:rPr>
              <a:t>Feature Importance (Random Forest)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e8003d"/>
              </a:solidFill>
              <a:ln w="0">
                <a:noFill/>
              </a:ln>
            </c:spPr>
          </c:dPt>
          <c:dPt>
            <c:idx val="1"/>
            <c:spPr>
              <a:solidFill>
                <a:srgbClr val="3b82f6"/>
              </a:solidFill>
              <a:ln w="0">
                <a:noFill/>
              </a:ln>
            </c:spPr>
          </c:dPt>
          <c:dPt>
            <c:idx val="2"/>
            <c:spPr>
              <a:solidFill>
                <a:srgbClr val="f59e0b"/>
              </a:solidFill>
              <a:ln w="0">
                <a:noFill/>
              </a:ln>
            </c:spPr>
          </c:dPt>
          <c:dPt>
            <c:idx val="3"/>
            <c:spPr>
              <a:solidFill>
                <a:srgbClr val="22c55e"/>
              </a:solidFill>
              <a:ln w="0">
                <a:noFill/>
              </a:ln>
            </c:spPr>
          </c:dPt>
          <c:dLbls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numFmt formatCode="0%" sourceLinked="0"/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4"/>
                <c:pt idx="0">
                  <c:v>Tyre Age</c:v>
                </c:pt>
                <c:pt idx="1">
                  <c:v>Track</c:v>
                </c:pt>
                <c:pt idx="2">
                  <c:v>Compound</c:v>
                </c:pt>
                <c:pt idx="3">
                  <c:v>Fuel Load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40.46</c:v>
                </c:pt>
                <c:pt idx="1">
                  <c:v>35.27</c:v>
                </c:pt>
                <c:pt idx="2">
                  <c:v>19.15</c:v>
                </c:pt>
                <c:pt idx="3">
                  <c:v>5.12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1a1a2e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f5f7fa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100" b="0" u="none" strike="noStrike">
                <a:solidFill>
                  <a:srgbClr val="1a1a2e"/>
                </a:solidFill>
                <a:uFillTx/>
                <a:latin typeface="Arial"/>
              </a:rPr>
              <a:t>Laps by Track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Laps</c:v>
                </c:pt>
              </c:strCache>
            </c:strRef>
          </c:tx>
          <c:spPr>
            <a:solidFill>
              <a:srgbClr val="e8003d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1a1a2e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Austria</c:v>
                </c:pt>
                <c:pt idx="1">
                  <c:v>Spa</c:v>
                </c:pt>
                <c:pt idx="2">
                  <c:v>Jeddah</c:v>
                </c:pt>
                <c:pt idx="3">
                  <c:v>Silverstone</c:v>
                </c:pt>
                <c:pt idx="4">
                  <c:v>Sakhir</c:v>
                </c:pt>
                <c:pt idx="5">
                  <c:v>China</c:v>
                </c:pt>
                <c:pt idx="6">
                  <c:v>Mexico</c:v>
                </c:pt>
                <c:pt idx="7">
                  <c:v>Sochi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145</c:v>
                </c:pt>
                <c:pt idx="1">
                  <c:v>132</c:v>
                </c:pt>
                <c:pt idx="2">
                  <c:v>118</c:v>
                </c:pt>
                <c:pt idx="3">
                  <c:v>104</c:v>
                </c:pt>
                <c:pt idx="4">
                  <c:v>98</c:v>
                </c:pt>
                <c:pt idx="5">
                  <c:v>89</c:v>
                </c:pt>
                <c:pt idx="6">
                  <c:v>76</c:v>
                </c:pt>
                <c:pt idx="7">
                  <c:v>67</c:v>
                </c:pt>
              </c:numCache>
            </c:numRef>
          </c:val>
        </c:ser>
        <c:gapWidth val="150"/>
        <c:overlap val="0"/>
        <c:axId val="16609369"/>
        <c:axId val="49819055"/>
      </c:barChart>
      <c:catAx>
        <c:axId val="1660936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a1a2e"/>
                </a:solidFill>
                <a:uFillTx/>
                <a:latin typeface="Arial"/>
              </a:defRPr>
            </a:pPr>
          </a:p>
        </c:txPr>
        <c:crossAx val="49819055"/>
        <c:crosses val="autoZero"/>
        <c:auto val="1"/>
        <c:lblAlgn val="ctr"/>
        <c:lblOffset val="100"/>
        <c:noMultiLvlLbl val="0"/>
      </c:catAx>
      <c:valAx>
        <c:axId val="49819055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a1a2e"/>
                </a:solidFill>
                <a:uFillTx/>
                <a:latin typeface="Arial"/>
              </a:defRPr>
            </a:pPr>
          </a:p>
        </c:txPr>
        <c:crossAx val="1660936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5f7fa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100" b="0" u="none" strike="noStrike">
                <a:solidFill>
                  <a:srgbClr val="1a1a2e"/>
                </a:solidFill>
                <a:uFillTx/>
                <a:latin typeface="Arial"/>
              </a:rPr>
              <a:t>Tyre Distribution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Tyres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e8003d"/>
              </a:solidFill>
              <a:ln w="0">
                <a:noFill/>
              </a:ln>
            </c:spPr>
          </c:dPt>
          <c:dPt>
            <c:idx val="1"/>
            <c:spPr>
              <a:solidFill>
                <a:srgbClr val="ef4444"/>
              </a:solidFill>
              <a:ln w="0">
                <a:noFill/>
              </a:ln>
            </c:spPr>
          </c:dPt>
          <c:dPt>
            <c:idx val="2"/>
            <c:spPr>
              <a:solidFill>
                <a:srgbClr val="f97316"/>
              </a:solidFill>
              <a:ln w="0">
                <a:noFill/>
              </a:ln>
            </c:spPr>
          </c:dPt>
          <c:dPt>
            <c:idx val="3"/>
            <c:spPr>
              <a:solidFill>
                <a:srgbClr val="f59e0b"/>
              </a:solidFill>
              <a:ln w="0">
                <a:noFill/>
              </a:ln>
            </c:spPr>
          </c:dPt>
          <c:dPt>
            <c:idx val="4"/>
            <c:spPr>
              <a:solidFill>
                <a:srgbClr val="84cc16"/>
              </a:solidFill>
              <a:ln w="0">
                <a:noFill/>
              </a:ln>
            </c:spPr>
          </c:dPt>
          <c:dPt>
            <c:idx val="5"/>
            <c:spPr>
              <a:solidFill>
                <a:srgbClr val="22c55e"/>
              </a:solidFill>
              <a:ln w="0">
                <a:noFill/>
              </a:ln>
            </c:spPr>
          </c:dPt>
          <c:dLbls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4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5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numFmt formatCode="0%" sourceLinked="0"/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6"/>
                <c:pt idx="0">
                  <c:v>Ultrasoft</c:v>
                </c:pt>
                <c:pt idx="1">
                  <c:v>Soft</c:v>
                </c:pt>
                <c:pt idx="2">
                  <c:v>Supersoft</c:v>
                </c:pt>
                <c:pt idx="3">
                  <c:v>Hypersoft</c:v>
                </c:pt>
                <c:pt idx="4">
                  <c:v>Medium</c:v>
                </c:pt>
                <c:pt idx="5">
                  <c:v>Hard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238</c:v>
                </c:pt>
                <c:pt idx="1">
                  <c:v>189</c:v>
                </c:pt>
                <c:pt idx="2">
                  <c:v>156</c:v>
                </c:pt>
                <c:pt idx="3">
                  <c:v>145</c:v>
                </c:pt>
                <c:pt idx="4">
                  <c:v>102</c:v>
                </c:pt>
                <c:pt idx="5">
                  <c:v>43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800" b="0" u="none" strike="noStrike">
              <a:solidFill>
                <a:srgbClr val="1a1a2e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f5f7fa"/>
    </a:solidFill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200" b="0" u="none" strike="noStrike">
                <a:solidFill>
                  <a:srgbClr val="1a1a2e"/>
                </a:solidFill>
                <a:uFillTx/>
                <a:latin typeface="Arial"/>
              </a:rPr>
              <a:t>Lap Time vs Tyre Age (seconds)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Hypersoft</c:v>
                </c:pt>
              </c:strCache>
            </c:strRef>
          </c:tx>
          <c:spPr>
            <a:solidFill>
              <a:srgbClr val="e8003d"/>
            </a:solidFill>
            <a:ln w="31680">
              <a:solidFill>
                <a:srgbClr val="e8003d"/>
              </a:solidFill>
              <a:round/>
            </a:ln>
          </c:spPr>
          <c:marker>
            <c:symbol val="circle"/>
            <c:size val="6"/>
            <c:spPr>
              <a:solidFill>
                <a:srgbClr val="e8003d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Lap 1</c:v>
                </c:pt>
                <c:pt idx="1">
                  <c:v>Lap 5</c:v>
                </c:pt>
                <c:pt idx="2">
                  <c:v>Lap 10</c:v>
                </c:pt>
                <c:pt idx="3">
                  <c:v>Lap 15</c:v>
                </c:pt>
                <c:pt idx="4">
                  <c:v>Lap 20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104.2</c:v>
                </c:pt>
                <c:pt idx="1">
                  <c:v>105.1</c:v>
                </c:pt>
                <c:pt idx="2">
                  <c:v>107.3</c:v>
                </c:pt>
                <c:pt idx="3">
                  <c:v>111.8</c:v>
                </c:pt>
                <c:pt idx="4">
                  <c:v>118.5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Ultrasoft</c:v>
                </c:pt>
              </c:strCache>
            </c:strRef>
          </c:tx>
          <c:spPr>
            <a:solidFill>
              <a:srgbClr val="ef4444"/>
            </a:solidFill>
            <a:ln w="31680">
              <a:solidFill>
                <a:srgbClr val="ef4444"/>
              </a:solidFill>
              <a:round/>
            </a:ln>
          </c:spPr>
          <c:marker>
            <c:symbol val="circle"/>
            <c:size val="6"/>
            <c:spPr>
              <a:solidFill>
                <a:srgbClr val="ef4444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Lap 1</c:v>
                </c:pt>
                <c:pt idx="1">
                  <c:v>Lap 5</c:v>
                </c:pt>
                <c:pt idx="2">
                  <c:v>Lap 10</c:v>
                </c:pt>
                <c:pt idx="3">
                  <c:v>Lap 15</c:v>
                </c:pt>
                <c:pt idx="4">
                  <c:v>Lap 20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105.8</c:v>
                </c:pt>
                <c:pt idx="1">
                  <c:v>106.9</c:v>
                </c:pt>
                <c:pt idx="2">
                  <c:v>109.5</c:v>
                </c:pt>
                <c:pt idx="3">
                  <c:v>113.2</c:v>
                </c:pt>
                <c:pt idx="4">
                  <c:v>119.1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Supersoft</c:v>
                </c:pt>
              </c:strCache>
            </c:strRef>
          </c:tx>
          <c:spPr>
            <a:solidFill>
              <a:srgbClr val="f97316"/>
            </a:solidFill>
            <a:ln w="31680">
              <a:solidFill>
                <a:srgbClr val="f97316"/>
              </a:solidFill>
              <a:round/>
            </a:ln>
          </c:spPr>
          <c:marker>
            <c:symbol val="circle"/>
            <c:size val="6"/>
            <c:spPr>
              <a:solidFill>
                <a:srgbClr val="f97316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Lap 1</c:v>
                </c:pt>
                <c:pt idx="1">
                  <c:v>Lap 5</c:v>
                </c:pt>
                <c:pt idx="2">
                  <c:v>Lap 10</c:v>
                </c:pt>
                <c:pt idx="3">
                  <c:v>Lap 15</c:v>
                </c:pt>
                <c:pt idx="4">
                  <c:v>Lap 20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5"/>
                <c:pt idx="0">
                  <c:v>107.1</c:v>
                </c:pt>
                <c:pt idx="1">
                  <c:v>108.3</c:v>
                </c:pt>
                <c:pt idx="2">
                  <c:v>110.8</c:v>
                </c:pt>
                <c:pt idx="3">
                  <c:v>114.1</c:v>
                </c:pt>
                <c:pt idx="4">
                  <c:v>118.9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Soft</c:v>
                </c:pt>
              </c:strCache>
            </c:strRef>
          </c:tx>
          <c:spPr>
            <a:solidFill>
              <a:srgbClr val="f59e0b"/>
            </a:solidFill>
            <a:ln w="31680">
              <a:solidFill>
                <a:srgbClr val="f59e0b"/>
              </a:solidFill>
              <a:round/>
            </a:ln>
          </c:spPr>
          <c:marker>
            <c:symbol val="circle"/>
            <c:size val="6"/>
            <c:spPr>
              <a:solidFill>
                <a:srgbClr val="f59e0b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Lap 1</c:v>
                </c:pt>
                <c:pt idx="1">
                  <c:v>Lap 5</c:v>
                </c:pt>
                <c:pt idx="2">
                  <c:v>Lap 10</c:v>
                </c:pt>
                <c:pt idx="3">
                  <c:v>Lap 15</c:v>
                </c:pt>
                <c:pt idx="4">
                  <c:v>Lap 20</c:v>
                </c:pt>
              </c:strCache>
            </c:strRef>
          </c:cat>
          <c:val>
            <c:numRef>
              <c:f>3</c:f>
              <c:numCache>
                <c:formatCode>General</c:formatCode>
                <c:ptCount val="5"/>
                <c:pt idx="0">
                  <c:v>108.5</c:v>
                </c:pt>
                <c:pt idx="1">
                  <c:v>109.6</c:v>
                </c:pt>
                <c:pt idx="2">
                  <c:v>111.9</c:v>
                </c:pt>
                <c:pt idx="3">
                  <c:v>114.8</c:v>
                </c:pt>
                <c:pt idx="4">
                  <c:v>118.7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label 4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84cc16"/>
            </a:solidFill>
            <a:ln w="31680">
              <a:solidFill>
                <a:srgbClr val="84cc16"/>
              </a:solidFill>
              <a:round/>
            </a:ln>
          </c:spPr>
          <c:marker>
            <c:symbol val="circle"/>
            <c:size val="6"/>
            <c:spPr>
              <a:solidFill>
                <a:srgbClr val="84cc16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Lap 1</c:v>
                </c:pt>
                <c:pt idx="1">
                  <c:v>Lap 5</c:v>
                </c:pt>
                <c:pt idx="2">
                  <c:v>Lap 10</c:v>
                </c:pt>
                <c:pt idx="3">
                  <c:v>Lap 15</c:v>
                </c:pt>
                <c:pt idx="4">
                  <c:v>Lap 20</c:v>
                </c:pt>
              </c:strCache>
            </c:strRef>
          </c:cat>
          <c:val>
            <c:numRef>
              <c:f>4</c:f>
              <c:numCache>
                <c:formatCode>General</c:formatCode>
                <c:ptCount val="5"/>
                <c:pt idx="0">
                  <c:v>110.2</c:v>
                </c:pt>
                <c:pt idx="1">
                  <c:v>111.1</c:v>
                </c:pt>
                <c:pt idx="2">
                  <c:v>113.2</c:v>
                </c:pt>
                <c:pt idx="3">
                  <c:v>115.6</c:v>
                </c:pt>
                <c:pt idx="4">
                  <c:v>118.8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label 5</c:f>
              <c:strCache>
                <c:ptCount val="1"/>
                <c:pt idx="0">
                  <c:v>Hard</c:v>
                </c:pt>
              </c:strCache>
            </c:strRef>
          </c:tx>
          <c:spPr>
            <a:solidFill>
              <a:srgbClr val="22c55e"/>
            </a:solidFill>
            <a:ln w="31680">
              <a:solidFill>
                <a:srgbClr val="22c55e"/>
              </a:solidFill>
              <a:round/>
            </a:ln>
          </c:spPr>
          <c:marker>
            <c:symbol val="circle"/>
            <c:size val="6"/>
            <c:spPr>
              <a:solidFill>
                <a:srgbClr val="22c55e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Lap 1</c:v>
                </c:pt>
                <c:pt idx="1">
                  <c:v>Lap 5</c:v>
                </c:pt>
                <c:pt idx="2">
                  <c:v>Lap 10</c:v>
                </c:pt>
                <c:pt idx="3">
                  <c:v>Lap 15</c:v>
                </c:pt>
                <c:pt idx="4">
                  <c:v>Lap 20</c:v>
                </c:pt>
              </c:strCache>
            </c:strRef>
          </c:cat>
          <c:val>
            <c:numRef>
              <c:f>5</c:f>
              <c:numCache>
                <c:formatCode>General</c:formatCode>
                <c:ptCount val="5"/>
                <c:pt idx="0">
                  <c:v>112.4</c:v>
                </c:pt>
                <c:pt idx="1">
                  <c:v>113</c:v>
                </c:pt>
                <c:pt idx="2">
                  <c:v>114.5</c:v>
                </c:pt>
                <c:pt idx="3">
                  <c:v>116.2</c:v>
                </c:pt>
                <c:pt idx="4">
                  <c:v>118.5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9068689"/>
        <c:axId val="2739942"/>
      </c:lineChart>
      <c:catAx>
        <c:axId val="906868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a1a2e"/>
                </a:solidFill>
                <a:uFillTx/>
                <a:latin typeface="Arial"/>
              </a:defRPr>
            </a:pPr>
          </a:p>
        </c:txPr>
        <c:crossAx val="2739942"/>
        <c:crosses val="autoZero"/>
        <c:auto val="1"/>
        <c:lblAlgn val="ctr"/>
        <c:lblOffset val="100"/>
        <c:noMultiLvlLbl val="0"/>
      </c:catAx>
      <c:valAx>
        <c:axId val="2739942"/>
        <c:scaling>
          <c:orientation val="minMax"/>
          <c:max val="122"/>
          <c:min val="103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a1a2e"/>
                </a:solidFill>
                <a:uFillTx/>
                <a:latin typeface="Arial"/>
              </a:defRPr>
            </a:pPr>
          </a:p>
        </c:txPr>
        <c:crossAx val="9068689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900" b="0" u="none" strike="noStrike">
              <a:solidFill>
                <a:srgbClr val="1a1a2e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f5f7fa"/>
    </a:solidFill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200" b="0" u="none" strike="noStrike">
                <a:solidFill>
                  <a:srgbClr val="1a1a2e"/>
                </a:solidFill>
                <a:uFillTx/>
                <a:latin typeface="Arial"/>
              </a:rPr>
              <a:t>System Latency: Actual vs Target (ms) — Lower is Better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Actual (ms)</c:v>
                </c:pt>
              </c:strCache>
            </c:strRef>
          </c:tx>
          <c:spPr>
            <a:solidFill>
              <a:srgbClr val="e8003d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1a1a2e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UDP Capture</c:v>
                </c:pt>
                <c:pt idx="1">
                  <c:v>Binary Parse</c:v>
                </c:pt>
                <c:pt idx="2">
                  <c:v>DB INSERT</c:v>
                </c:pt>
                <c:pt idx="3">
                  <c:v>ML Predict</c:v>
                </c:pt>
                <c:pt idx="4">
                  <c:v>API Response</c:v>
                </c:pt>
                <c:pt idx="5">
                  <c:v>Chart Render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3.2</c:v>
                </c:pt>
                <c:pt idx="1">
                  <c:v>1.1</c:v>
                </c:pt>
                <c:pt idx="2">
                  <c:v>12.4</c:v>
                </c:pt>
                <c:pt idx="3">
                  <c:v>47.3</c:v>
                </c:pt>
                <c:pt idx="4">
                  <c:v>89.7</c:v>
                </c:pt>
                <c:pt idx="5">
                  <c:v>234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Target (ms)</c:v>
                </c:pt>
              </c:strCache>
            </c:strRef>
          </c:tx>
          <c:spPr>
            <a:solidFill>
              <a:srgbClr val="c8c8c8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1a1a2e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UDP Capture</c:v>
                </c:pt>
                <c:pt idx="1">
                  <c:v>Binary Parse</c:v>
                </c:pt>
                <c:pt idx="2">
                  <c:v>DB INSERT</c:v>
                </c:pt>
                <c:pt idx="3">
                  <c:v>ML Predict</c:v>
                </c:pt>
                <c:pt idx="4">
                  <c:v>API Response</c:v>
                </c:pt>
                <c:pt idx="5">
                  <c:v>Chart Render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6"/>
                <c:pt idx="0">
                  <c:v>10</c:v>
                </c:pt>
                <c:pt idx="1">
                  <c:v>5</c:v>
                </c:pt>
                <c:pt idx="2">
                  <c:v>50</c:v>
                </c:pt>
                <c:pt idx="3">
                  <c:v>100</c:v>
                </c:pt>
                <c:pt idx="4">
                  <c:v>200</c:v>
                </c:pt>
                <c:pt idx="5">
                  <c:v>500</c:v>
                </c:pt>
              </c:numCache>
            </c:numRef>
          </c:val>
        </c:ser>
        <c:gapWidth val="150"/>
        <c:overlap val="0"/>
        <c:axId val="75244647"/>
        <c:axId val="81047810"/>
      </c:barChart>
      <c:catAx>
        <c:axId val="7524464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a1a2e"/>
                </a:solidFill>
                <a:uFillTx/>
                <a:latin typeface="Arial"/>
              </a:defRPr>
            </a:pPr>
          </a:p>
        </c:txPr>
        <c:crossAx val="81047810"/>
        <c:crosses val="autoZero"/>
        <c:auto val="1"/>
        <c:lblAlgn val="ctr"/>
        <c:lblOffset val="100"/>
        <c:noMultiLvlLbl val="0"/>
      </c:catAx>
      <c:valAx>
        <c:axId val="81047810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a1a2e"/>
                </a:solidFill>
                <a:uFillTx/>
                <a:latin typeface="Arial"/>
              </a:defRPr>
            </a:pPr>
          </a:p>
        </c:txPr>
        <c:crossAx val="75244647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1a1a2e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f5f7fa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816B581-73CF-4E63-8E35-88AB0A2C695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297E59-3C5A-4205-8FC1-F6B9FA0D95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FD4F5C-14EE-4F63-979B-BA900013E5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882025-6871-4EC8-AB73-04EA64A0E6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AC30DF-1C48-4D23-A438-19FE162E7B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F32C42-8B13-4225-BC6C-1F9C43A83E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2245E1-5AC0-4500-94C3-6B10DC93BA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7CBE8B-AB53-488D-9BBE-591FD2ABDF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634856-173F-4B5D-8F73-9839993E0E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312E60-08B6-4055-993E-8936DAFDDD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8A4750-A397-47E6-BE40-A9D839465D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3AE81DE-0745-4CD0-BDC8-F7694F43AE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87B63D-2113-4603-85B3-BDCE2298B6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5"/>
          <p:cNvSpPr/>
          <p:nvPr/>
        </p:nvSpPr>
        <p:spPr>
          <a:xfrm>
            <a:off x="0" y="0"/>
            <a:ext cx="227160" cy="5142240"/>
          </a:xfrm>
          <a:prstGeom prst="rect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59"/>
          <p:cNvSpPr/>
          <p:nvPr/>
        </p:nvSpPr>
        <p:spPr>
          <a:xfrm>
            <a:off x="228600" y="0"/>
            <a:ext cx="8913960" cy="53280"/>
          </a:xfrm>
          <a:prstGeom prst="rect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2"/>
          <p:cNvSpPr/>
          <p:nvPr/>
        </p:nvSpPr>
        <p:spPr>
          <a:xfrm>
            <a:off x="457200" y="274320"/>
            <a:ext cx="8228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1500" b="1" u="none" spc="300" strike="noStrike">
                <a:solidFill>
                  <a:srgbClr val="c8c8c8"/>
                </a:solidFill>
                <a:effectLst/>
                <a:uFillTx/>
                <a:latin typeface="Calibri"/>
                <a:ea typeface="Times New Roman"/>
              </a:rPr>
              <a:t>A Project Report Presentation: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64"/>
          <p:cNvSpPr/>
          <p:nvPr/>
        </p:nvSpPr>
        <p:spPr>
          <a:xfrm>
            <a:off x="457200" y="822960"/>
            <a:ext cx="7770960" cy="19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Real-Time Telemetry Analytics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&amp; Predictive Modelling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5"/>
          <p:cNvSpPr/>
          <p:nvPr/>
        </p:nvSpPr>
        <p:spPr>
          <a:xfrm>
            <a:off x="457200" y="2743200"/>
            <a:ext cx="73137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for Motorsports Strategy Optimization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6"/>
          <p:cNvSpPr/>
          <p:nvPr/>
        </p:nvSpPr>
        <p:spPr>
          <a:xfrm>
            <a:off x="457200" y="4343400"/>
            <a:ext cx="8228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c8c8"/>
                </a:solidFill>
                <a:effectLst/>
                <a:uFillTx/>
                <a:latin typeface="Calibri"/>
                <a:ea typeface="Calibri"/>
              </a:rPr>
              <a:t>Ayaan Ahmad  ·  Enrollment: 2023-310-062  ·  Supervisor: Prof. Tabish Mufti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1"/>
          <p:cNvSpPr/>
          <p:nvPr/>
        </p:nvSpPr>
        <p:spPr>
          <a:xfrm>
            <a:off x="7315200" y="731520"/>
            <a:ext cx="272880" cy="3656160"/>
          </a:xfrm>
          <a:prstGeom prst="rect">
            <a:avLst/>
          </a:prstGeom>
          <a:solidFill>
            <a:srgbClr val="e8003d">
              <a:alpha val="20000"/>
            </a:srgbClr>
          </a:solidFill>
          <a:ln w="12700">
            <a:solidFill>
              <a:srgbClr val="e8003d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3"/>
          <p:cNvSpPr/>
          <p:nvPr/>
        </p:nvSpPr>
        <p:spPr>
          <a:xfrm>
            <a:off x="7726680" y="731520"/>
            <a:ext cx="272880" cy="3656160"/>
          </a:xfrm>
          <a:prstGeom prst="rect">
            <a:avLst/>
          </a:prstGeom>
          <a:solidFill>
            <a:srgbClr val="e8003d">
              <a:alpha val="15000"/>
            </a:srgbClr>
          </a:solidFill>
          <a:ln w="12700">
            <a:solidFill>
              <a:srgbClr val="e8003d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65"/>
          <p:cNvSpPr/>
          <p:nvPr/>
        </p:nvSpPr>
        <p:spPr>
          <a:xfrm>
            <a:off x="8138160" y="731520"/>
            <a:ext cx="272880" cy="3656160"/>
          </a:xfrm>
          <a:prstGeom prst="rect">
            <a:avLst/>
          </a:prstGeom>
          <a:solidFill>
            <a:srgbClr val="e8003d">
              <a:alpha val="10000"/>
            </a:srgbClr>
          </a:solidFill>
          <a:ln w="12700">
            <a:solidFill>
              <a:srgbClr val="e8003d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67"/>
          <p:cNvSpPr/>
          <p:nvPr/>
        </p:nvSpPr>
        <p:spPr>
          <a:xfrm>
            <a:off x="7499160" y="2286000"/>
            <a:ext cx="272880" cy="3656160"/>
          </a:xfrm>
          <a:prstGeom prst="rect">
            <a:avLst/>
          </a:prstGeom>
          <a:solidFill>
            <a:srgbClr val="e8003d">
              <a:alpha val="5000"/>
            </a:srgbClr>
          </a:solidFill>
          <a:ln w="12700">
            <a:solidFill>
              <a:srgbClr val="e8003d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6"/>
          <p:cNvSpPr/>
          <p:nvPr/>
        </p:nvSpPr>
        <p:spPr>
          <a:xfrm>
            <a:off x="457200" y="3594600"/>
            <a:ext cx="87768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1000" b="1" i="1" u="none" strike="noStrike">
                <a:solidFill>
                  <a:srgbClr val="ffffff"/>
                </a:solidFill>
                <a:effectLst/>
                <a:uFillTx/>
                <a:latin typeface="Calibri black"/>
                <a:ea typeface="Times New Roman"/>
              </a:rPr>
              <a:t>SUBMITTED TO: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1000" b="1" i="1" u="none" strike="noStrike">
                <a:solidFill>
                  <a:srgbClr val="ffffff"/>
                </a:solidFill>
                <a:effectLst/>
                <a:uFillTx/>
                <a:latin typeface="Calibri black"/>
                <a:ea typeface="Times New Roman"/>
              </a:rPr>
              <a:t>Department of Computer Science &amp; Engineering,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1000" b="1" i="1" u="none" strike="noStrike">
                <a:solidFill>
                  <a:srgbClr val="ffffff"/>
                </a:solidFill>
                <a:effectLst/>
                <a:uFillTx/>
                <a:latin typeface="Calibri black"/>
                <a:ea typeface="Times New Roman"/>
              </a:rPr>
              <a:t>School of Engineering Sciences &amp; Technology,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1000" b="1" i="1" u="none" strike="noStrike">
                <a:solidFill>
                  <a:srgbClr val="ffffff"/>
                </a:solidFill>
                <a:effectLst/>
                <a:uFillTx/>
                <a:latin typeface="Calibri black"/>
                <a:ea typeface="Times New Roman"/>
              </a:rPr>
              <a:t>JAMIA HAMDARD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"/>
          <p:cNvPicPr/>
          <p:nvPr/>
        </p:nvPicPr>
        <p:blipFill>
          <a:blip r:embed="rId1"/>
          <a:stretch/>
        </p:blipFill>
        <p:spPr>
          <a:xfrm>
            <a:off x="5400360" y="2971800"/>
            <a:ext cx="1457280" cy="1485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9142560" cy="50148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365760" y="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e8003d"/>
                </a:solidFill>
                <a:effectLst/>
                <a:uFillTx/>
                <a:latin typeface="Arial Black"/>
                <a:ea typeface="Arial Black"/>
              </a:rPr>
              <a:t>INTRODUCTION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274320" y="685800"/>
            <a:ext cx="4021920" cy="402192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411480" y="777240"/>
            <a:ext cx="37476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1a2e"/>
                </a:solidFill>
                <a:effectLst/>
                <a:uFillTx/>
                <a:latin typeface="Arial Black"/>
                <a:ea typeface="Arial Black"/>
              </a:rPr>
              <a:t>The F1 Data Challenge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411480" y="1188720"/>
            <a:ext cx="3747600" cy="338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500 GB+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telemetry data per race weekend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300+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sensors per car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$500K+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cost of proprietary systems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4663440" y="685800"/>
            <a:ext cx="4204800" cy="40219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4800600" y="777240"/>
            <a:ext cx="3839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1a2e"/>
                </a:solidFill>
                <a:effectLst/>
                <a:uFillTx/>
                <a:latin typeface="Arial Black"/>
                <a:ea typeface="Arial Black"/>
              </a:rPr>
              <a:t>Evolution of Telemetry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7"/>
          <p:cNvSpPr/>
          <p:nvPr/>
        </p:nvSpPr>
        <p:spPr>
          <a:xfrm>
            <a:off x="4754880" y="1261800"/>
            <a:ext cx="345960" cy="345960"/>
          </a:xfrm>
          <a:prstGeom prst="ellipse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8"/>
          <p:cNvSpPr/>
          <p:nvPr/>
        </p:nvSpPr>
        <p:spPr>
          <a:xfrm>
            <a:off x="5139000" y="1243440"/>
            <a:ext cx="912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1980s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6080760" y="1243440"/>
            <a:ext cx="2650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Analog radio: RPM &amp; fuel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0"/>
          <p:cNvSpPr/>
          <p:nvPr/>
        </p:nvSpPr>
        <p:spPr>
          <a:xfrm>
            <a:off x="4919400" y="1609200"/>
            <a:ext cx="360" cy="311040"/>
          </a:xfrm>
          <a:prstGeom prst="line">
            <a:avLst/>
          </a:prstGeom>
          <a:ln w="1905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4754880" y="1920240"/>
            <a:ext cx="345960" cy="345960"/>
          </a:xfrm>
          <a:prstGeom prst="ellipse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5139000" y="1901880"/>
            <a:ext cx="912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1990s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6080760" y="1901880"/>
            <a:ext cx="2650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Digital + GPS; McLaren Atlas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4"/>
          <p:cNvSpPr/>
          <p:nvPr/>
        </p:nvSpPr>
        <p:spPr>
          <a:xfrm>
            <a:off x="4919400" y="2267640"/>
            <a:ext cx="360" cy="310680"/>
          </a:xfrm>
          <a:prstGeom prst="line">
            <a:avLst/>
          </a:prstGeom>
          <a:ln w="1905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5"/>
          <p:cNvSpPr/>
          <p:nvPr/>
        </p:nvSpPr>
        <p:spPr>
          <a:xfrm>
            <a:off x="4754880" y="2578680"/>
            <a:ext cx="345960" cy="345960"/>
          </a:xfrm>
          <a:prstGeom prst="ellipse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5139000" y="2560320"/>
            <a:ext cx="912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2000s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7"/>
          <p:cNvSpPr/>
          <p:nvPr/>
        </p:nvSpPr>
        <p:spPr>
          <a:xfrm>
            <a:off x="6080760" y="2560320"/>
            <a:ext cx="2650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Real-time wireless; 2 Mbps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8"/>
          <p:cNvSpPr/>
          <p:nvPr/>
        </p:nvSpPr>
        <p:spPr>
          <a:xfrm>
            <a:off x="4919400" y="2926080"/>
            <a:ext cx="360" cy="310680"/>
          </a:xfrm>
          <a:prstGeom prst="line">
            <a:avLst/>
          </a:prstGeom>
          <a:ln w="1905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9"/>
          <p:cNvSpPr/>
          <p:nvPr/>
        </p:nvSpPr>
        <p:spPr>
          <a:xfrm>
            <a:off x="4754880" y="3237120"/>
            <a:ext cx="345960" cy="345960"/>
          </a:xfrm>
          <a:prstGeom prst="ellipse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0"/>
          <p:cNvSpPr/>
          <p:nvPr/>
        </p:nvSpPr>
        <p:spPr>
          <a:xfrm>
            <a:off x="5139000" y="3218760"/>
            <a:ext cx="912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2010s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1"/>
          <p:cNvSpPr/>
          <p:nvPr/>
        </p:nvSpPr>
        <p:spPr>
          <a:xfrm>
            <a:off x="6080760" y="3218760"/>
            <a:ext cx="2650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Big data ML, cloud computing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2"/>
          <p:cNvSpPr/>
          <p:nvPr/>
        </p:nvSpPr>
        <p:spPr>
          <a:xfrm>
            <a:off x="4919400" y="3584160"/>
            <a:ext cx="360" cy="311040"/>
          </a:xfrm>
          <a:prstGeom prst="line">
            <a:avLst/>
          </a:prstGeom>
          <a:ln w="1905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3"/>
          <p:cNvSpPr/>
          <p:nvPr/>
        </p:nvSpPr>
        <p:spPr>
          <a:xfrm>
            <a:off x="4754880" y="3895200"/>
            <a:ext cx="345960" cy="345960"/>
          </a:xfrm>
          <a:prstGeom prst="ellipse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4"/>
          <p:cNvSpPr/>
          <p:nvPr/>
        </p:nvSpPr>
        <p:spPr>
          <a:xfrm>
            <a:off x="5139000" y="3877200"/>
            <a:ext cx="912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2020s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5"/>
          <p:cNvSpPr/>
          <p:nvPr/>
        </p:nvSpPr>
        <p:spPr>
          <a:xfrm>
            <a:off x="6080760" y="3877200"/>
            <a:ext cx="2650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AI-driven, edge inference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9142560" cy="50148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365760" y="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e8003d"/>
                </a:solidFill>
                <a:effectLst/>
                <a:uFillTx/>
                <a:latin typeface="Arial Black"/>
                <a:ea typeface="Arial Black"/>
              </a:rPr>
              <a:t>PROBLEM STATEMENT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274320" y="685800"/>
            <a:ext cx="4021920" cy="19188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"/>
          <p:cNvSpPr/>
          <p:nvPr/>
        </p:nvSpPr>
        <p:spPr>
          <a:xfrm>
            <a:off x="274320" y="685800"/>
            <a:ext cx="62640" cy="1918800"/>
          </a:xfrm>
          <a:prstGeom prst="rect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411480" y="777240"/>
            <a:ext cx="3747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Arial Black"/>
                <a:ea typeface="Arial Black"/>
              </a:rPr>
              <a:t>Financial Barriers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411480" y="1161360"/>
            <a:ext cx="374760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McLaren ATLAS: $200K+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Software licenses: $550K/yr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Personnel: $580K/yr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6"/>
          <p:cNvSpPr/>
          <p:nvPr/>
        </p:nvSpPr>
        <p:spPr>
          <a:xfrm>
            <a:off x="4663440" y="685800"/>
            <a:ext cx="4021920" cy="19188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4663440" y="685800"/>
            <a:ext cx="62640" cy="1918800"/>
          </a:xfrm>
          <a:prstGeom prst="rect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4800600" y="777240"/>
            <a:ext cx="3747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Arial Black"/>
                <a:ea typeface="Arial Black"/>
              </a:rPr>
              <a:t>Vendor Lock-in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4800600" y="1161360"/>
            <a:ext cx="374760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Closed-source systems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No ML integration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Propriety file formats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274320" y="2788920"/>
            <a:ext cx="4021920" cy="19188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274320" y="2788920"/>
            <a:ext cx="62640" cy="1918800"/>
          </a:xfrm>
          <a:prstGeom prst="rect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411480" y="2880360"/>
            <a:ext cx="3747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Arial Black"/>
                <a:ea typeface="Arial Black"/>
              </a:rPr>
              <a:t>Storage Inefficiency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411480" y="3264480"/>
            <a:ext cx="374760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Full-rate capture = TBs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36,000 pts per session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No intelligent sampling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4"/>
          <p:cNvSpPr/>
          <p:nvPr/>
        </p:nvSpPr>
        <p:spPr>
          <a:xfrm>
            <a:off x="4663440" y="2788920"/>
            <a:ext cx="4021920" cy="19188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5"/>
          <p:cNvSpPr/>
          <p:nvPr/>
        </p:nvSpPr>
        <p:spPr>
          <a:xfrm>
            <a:off x="4663440" y="2788920"/>
            <a:ext cx="62640" cy="1918800"/>
          </a:xfrm>
          <a:prstGeom prst="rect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4800600" y="2880360"/>
            <a:ext cx="3747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Arial Black"/>
                <a:ea typeface="Arial Black"/>
              </a:rPr>
              <a:t>Prediction Gap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4800600" y="3264480"/>
            <a:ext cx="374760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Rule-based tools only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No real-time ML inference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Post-race analysis only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9142560" cy="50148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365760" y="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e8003d"/>
                </a:solidFill>
                <a:effectLst/>
                <a:uFillTx/>
                <a:latin typeface="Arial Black"/>
                <a:ea typeface="Arial Black"/>
              </a:rPr>
              <a:t>LITERATURE REVIEW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8" name="Chart 1"/>
          <p:cNvGraphicFramePr/>
          <p:nvPr/>
        </p:nvGraphicFramePr>
        <p:xfrm>
          <a:off x="4663440" y="640080"/>
          <a:ext cx="4204800" cy="301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9" name="Text 2"/>
          <p:cNvSpPr/>
          <p:nvPr/>
        </p:nvSpPr>
        <p:spPr>
          <a:xfrm>
            <a:off x="274320" y="3840480"/>
            <a:ext cx="85939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Key insight: RF outperforms ARIMA/LR; Tyre Age is the dominant predictor at 40.46%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"/>
          <p:cNvPicPr/>
          <p:nvPr/>
        </p:nvPicPr>
        <p:blipFill>
          <a:blip r:embed="rId2"/>
          <a:stretch/>
        </p:blipFill>
        <p:spPr>
          <a:xfrm>
            <a:off x="457200" y="624240"/>
            <a:ext cx="3970080" cy="32151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9142560" cy="50148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365760" y="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e8003d"/>
                </a:solidFill>
                <a:effectLst/>
                <a:uFillTx/>
                <a:latin typeface="Arial Black"/>
                <a:ea typeface="Arial Black"/>
              </a:rPr>
              <a:t>SYSTEM ARCHITECTURE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"/>
          <p:cNvSpPr/>
          <p:nvPr/>
        </p:nvSpPr>
        <p:spPr>
          <a:xfrm>
            <a:off x="274320" y="658440"/>
            <a:ext cx="8593920" cy="86724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"/>
          <p:cNvSpPr/>
          <p:nvPr/>
        </p:nvSpPr>
        <p:spPr>
          <a:xfrm>
            <a:off x="274320" y="658440"/>
            <a:ext cx="90000" cy="867240"/>
          </a:xfrm>
          <a:prstGeom prst="rect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502920" y="731520"/>
            <a:ext cx="29246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Arial Black"/>
                <a:ea typeface="Arial Black"/>
              </a:rPr>
              <a:t>Data Source Layer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502920" y="1097280"/>
            <a:ext cx="8136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F1 2018 Game (UDP · 60Hz · 1289B)  /  FastF1 API (Official FIA data)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"/>
          <p:cNvSpPr/>
          <p:nvPr/>
        </p:nvSpPr>
        <p:spPr>
          <a:xfrm>
            <a:off x="4526280" y="1526760"/>
            <a:ext cx="360" cy="155520"/>
          </a:xfrm>
          <a:prstGeom prst="line">
            <a:avLst/>
          </a:prstGeom>
          <a:ln w="1905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4297680" y="1545480"/>
            <a:ext cx="4557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274320" y="1682640"/>
            <a:ext cx="8593920" cy="86724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9"/>
          <p:cNvSpPr/>
          <p:nvPr/>
        </p:nvSpPr>
        <p:spPr>
          <a:xfrm>
            <a:off x="274320" y="1682640"/>
            <a:ext cx="90000" cy="86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502920" y="1755720"/>
            <a:ext cx="29246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Arial Black"/>
                <a:ea typeface="Arial Black"/>
              </a:rPr>
              <a:t>Data Layer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1"/>
          <p:cNvSpPr/>
          <p:nvPr/>
        </p:nvSpPr>
        <p:spPr>
          <a:xfrm>
            <a:off x="502920" y="2121480"/>
            <a:ext cx="8136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MySQL (sessions · laps · telemetry · strategy_events)  /  File system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2"/>
          <p:cNvSpPr/>
          <p:nvPr/>
        </p:nvSpPr>
        <p:spPr>
          <a:xfrm>
            <a:off x="4526280" y="2550960"/>
            <a:ext cx="360" cy="155520"/>
          </a:xfrm>
          <a:prstGeom prst="line">
            <a:avLst/>
          </a:prstGeom>
          <a:ln w="1905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4297680" y="2569320"/>
            <a:ext cx="4557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4"/>
          <p:cNvSpPr/>
          <p:nvPr/>
        </p:nvSpPr>
        <p:spPr>
          <a:xfrm>
            <a:off x="274320" y="2706480"/>
            <a:ext cx="8593920" cy="86724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5"/>
          <p:cNvSpPr/>
          <p:nvPr/>
        </p:nvSpPr>
        <p:spPr>
          <a:xfrm>
            <a:off x="274320" y="2706480"/>
            <a:ext cx="90000" cy="86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6"/>
          <p:cNvSpPr/>
          <p:nvPr/>
        </p:nvSpPr>
        <p:spPr>
          <a:xfrm>
            <a:off x="502920" y="2779920"/>
            <a:ext cx="29246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Arial Black"/>
                <a:ea typeface="Arial Black"/>
              </a:rPr>
              <a:t>Application Layer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7"/>
          <p:cNvSpPr/>
          <p:nvPr/>
        </p:nvSpPr>
        <p:spPr>
          <a:xfrm>
            <a:off x="502920" y="3145680"/>
            <a:ext cx="8136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Flask REST API · capture_telemetry · analyze_performance · ml_lap_prediction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8"/>
          <p:cNvSpPr/>
          <p:nvPr/>
        </p:nvSpPr>
        <p:spPr>
          <a:xfrm>
            <a:off x="4526280" y="3575160"/>
            <a:ext cx="360" cy="155520"/>
          </a:xfrm>
          <a:prstGeom prst="line">
            <a:avLst/>
          </a:prstGeom>
          <a:ln w="1905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9"/>
          <p:cNvSpPr/>
          <p:nvPr/>
        </p:nvSpPr>
        <p:spPr>
          <a:xfrm>
            <a:off x="4297680" y="3593520"/>
            <a:ext cx="4557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0"/>
          <p:cNvSpPr/>
          <p:nvPr/>
        </p:nvSpPr>
        <p:spPr>
          <a:xfrm>
            <a:off x="274320" y="3730680"/>
            <a:ext cx="8593920" cy="86724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1"/>
          <p:cNvSpPr/>
          <p:nvPr/>
        </p:nvSpPr>
        <p:spPr>
          <a:xfrm>
            <a:off x="274320" y="3730680"/>
            <a:ext cx="90000" cy="86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2"/>
          <p:cNvSpPr/>
          <p:nvPr/>
        </p:nvSpPr>
        <p:spPr>
          <a:xfrm>
            <a:off x="502920" y="3803760"/>
            <a:ext cx="29246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Arial Black"/>
                <a:ea typeface="Arial Black"/>
              </a:rPr>
              <a:t>Presentation Layer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3"/>
          <p:cNvSpPr/>
          <p:nvPr/>
        </p:nvSpPr>
        <p:spPr>
          <a:xfrm>
            <a:off x="502920" y="4169520"/>
            <a:ext cx="8136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Web UI (Chart.js Dashboard)  ·  CLI Tools  ·  Batch Scripts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9142560" cy="50148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365760" y="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e8003d"/>
                </a:solidFill>
                <a:effectLst/>
                <a:uFillTx/>
                <a:latin typeface="Arial Black"/>
                <a:ea typeface="Arial Black"/>
              </a:rPr>
              <a:t>END-TO-END DATA PIPELINE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"/>
          <p:cNvSpPr/>
          <p:nvPr/>
        </p:nvSpPr>
        <p:spPr>
          <a:xfrm>
            <a:off x="274320" y="640080"/>
            <a:ext cx="2650320" cy="178164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274320" y="640080"/>
            <a:ext cx="2650320" cy="345960"/>
          </a:xfrm>
          <a:prstGeom prst="rect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347400" y="676800"/>
            <a:ext cx="2504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Ingestion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365760" y="1051560"/>
            <a:ext cx="246744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UDP socket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Port 20777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60 pkt/s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6"/>
          <p:cNvSpPr/>
          <p:nvPr/>
        </p:nvSpPr>
        <p:spPr>
          <a:xfrm>
            <a:off x="3291840" y="640080"/>
            <a:ext cx="2650320" cy="178164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7"/>
          <p:cNvSpPr/>
          <p:nvPr/>
        </p:nvSpPr>
        <p:spPr>
          <a:xfrm>
            <a:off x="3291840" y="640080"/>
            <a:ext cx="2650320" cy="345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3364920" y="676800"/>
            <a:ext cx="2504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Binary Parsing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3383280" y="1051560"/>
            <a:ext cx="246744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struct.unpack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1289-byte packet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Validation 60s–180s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6309360" y="640080"/>
            <a:ext cx="2650320" cy="178164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1"/>
          <p:cNvSpPr/>
          <p:nvPr/>
        </p:nvSpPr>
        <p:spPr>
          <a:xfrm>
            <a:off x="6309360" y="640080"/>
            <a:ext cx="2650320" cy="34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6382440" y="676800"/>
            <a:ext cx="2504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Transformation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6400800" y="1051560"/>
            <a:ext cx="246744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Lap detection (timer delta) ·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Sampling 60:1 → 1 Hz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4"/>
          <p:cNvSpPr/>
          <p:nvPr/>
        </p:nvSpPr>
        <p:spPr>
          <a:xfrm>
            <a:off x="274320" y="2834640"/>
            <a:ext cx="2650320" cy="178164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5"/>
          <p:cNvSpPr/>
          <p:nvPr/>
        </p:nvSpPr>
        <p:spPr>
          <a:xfrm>
            <a:off x="274320" y="2834640"/>
            <a:ext cx="2650320" cy="345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6"/>
          <p:cNvSpPr/>
          <p:nvPr/>
        </p:nvSpPr>
        <p:spPr>
          <a:xfrm>
            <a:off x="347400" y="2871360"/>
            <a:ext cx="2504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7"/>
          <p:cNvSpPr/>
          <p:nvPr/>
        </p:nvSpPr>
        <p:spPr>
          <a:xfrm>
            <a:off x="365760" y="3246120"/>
            <a:ext cx="246744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MySQL INSERT 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 sessions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laps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telemetry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8"/>
          <p:cNvSpPr/>
          <p:nvPr/>
        </p:nvSpPr>
        <p:spPr>
          <a:xfrm>
            <a:off x="3291840" y="2834640"/>
            <a:ext cx="2650320" cy="178164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9"/>
          <p:cNvSpPr/>
          <p:nvPr/>
        </p:nvSpPr>
        <p:spPr>
          <a:xfrm>
            <a:off x="3291840" y="2834640"/>
            <a:ext cx="2650320" cy="345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0"/>
          <p:cNvSpPr/>
          <p:nvPr/>
        </p:nvSpPr>
        <p:spPr>
          <a:xfrm>
            <a:off x="3364920" y="2871360"/>
            <a:ext cx="2504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Analysis &amp; ML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1"/>
          <p:cNvSpPr/>
          <p:nvPr/>
        </p:nvSpPr>
        <p:spPr>
          <a:xfrm>
            <a:off x="3383280" y="3246120"/>
            <a:ext cx="246744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Statistics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Charts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Random Forest Training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2"/>
          <p:cNvSpPr/>
          <p:nvPr/>
        </p:nvSpPr>
        <p:spPr>
          <a:xfrm>
            <a:off x="6309360" y="2834640"/>
            <a:ext cx="2650320" cy="178164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3"/>
          <p:cNvSpPr/>
          <p:nvPr/>
        </p:nvSpPr>
        <p:spPr>
          <a:xfrm>
            <a:off x="6309360" y="2834640"/>
            <a:ext cx="2650320" cy="345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4"/>
          <p:cNvSpPr/>
          <p:nvPr/>
        </p:nvSpPr>
        <p:spPr>
          <a:xfrm>
            <a:off x="6382440" y="2871360"/>
            <a:ext cx="2504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Presentation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5"/>
          <p:cNvSpPr/>
          <p:nvPr/>
        </p:nvSpPr>
        <p:spPr>
          <a:xfrm>
            <a:off x="6400800" y="3246120"/>
            <a:ext cx="246744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Flask API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Chart.js Dashboard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Strategy Advisor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6"/>
          <p:cNvSpPr/>
          <p:nvPr/>
        </p:nvSpPr>
        <p:spPr>
          <a:xfrm>
            <a:off x="2926080" y="1526760"/>
            <a:ext cx="365760" cy="360"/>
          </a:xfrm>
          <a:prstGeom prst="line">
            <a:avLst/>
          </a:prstGeom>
          <a:ln w="2540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7"/>
          <p:cNvSpPr/>
          <p:nvPr/>
        </p:nvSpPr>
        <p:spPr>
          <a:xfrm>
            <a:off x="5943600" y="1526760"/>
            <a:ext cx="365760" cy="360"/>
          </a:xfrm>
          <a:prstGeom prst="line">
            <a:avLst/>
          </a:prstGeom>
          <a:ln w="2540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8"/>
          <p:cNvSpPr/>
          <p:nvPr/>
        </p:nvSpPr>
        <p:spPr>
          <a:xfrm>
            <a:off x="2926080" y="3721320"/>
            <a:ext cx="365760" cy="360"/>
          </a:xfrm>
          <a:prstGeom prst="line">
            <a:avLst/>
          </a:prstGeom>
          <a:ln w="2540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9"/>
          <p:cNvSpPr/>
          <p:nvPr/>
        </p:nvSpPr>
        <p:spPr>
          <a:xfrm>
            <a:off x="5943600" y="3721320"/>
            <a:ext cx="365760" cy="360"/>
          </a:xfrm>
          <a:prstGeom prst="line">
            <a:avLst/>
          </a:prstGeom>
          <a:ln w="2540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30"/>
          <p:cNvSpPr/>
          <p:nvPr/>
        </p:nvSpPr>
        <p:spPr>
          <a:xfrm>
            <a:off x="1600200" y="2423160"/>
            <a:ext cx="360" cy="411480"/>
          </a:xfrm>
          <a:prstGeom prst="line">
            <a:avLst/>
          </a:prstGeom>
          <a:ln w="2540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1"/>
          <p:cNvSpPr/>
          <p:nvPr/>
        </p:nvSpPr>
        <p:spPr>
          <a:xfrm>
            <a:off x="7635240" y="2423160"/>
            <a:ext cx="360" cy="411480"/>
          </a:xfrm>
          <a:prstGeom prst="line">
            <a:avLst/>
          </a:prstGeom>
          <a:ln w="2540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0"/>
          <p:cNvSpPr/>
          <p:nvPr/>
        </p:nvSpPr>
        <p:spPr>
          <a:xfrm>
            <a:off x="0" y="0"/>
            <a:ext cx="9142560" cy="50148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365760" y="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e8003d"/>
                </a:solidFill>
                <a:effectLst/>
                <a:uFillTx/>
                <a:latin typeface="Arial Black"/>
                <a:ea typeface="Arial Black"/>
              </a:rPr>
              <a:t>MACHINE LEARNING PIPELINE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255960" y="713160"/>
            <a:ext cx="345960" cy="345960"/>
          </a:xfrm>
          <a:prstGeom prst="ellipse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255960" y="71316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713160" y="658440"/>
            <a:ext cx="3747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Data Extraction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713160" y="1005840"/>
            <a:ext cx="4204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SQL: SELECT lap_time, tyre_age, fuel_load, compound, track WHERE is_valid=1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429480" y="1060560"/>
            <a:ext cx="360" cy="329040"/>
          </a:xfrm>
          <a:prstGeom prst="line">
            <a:avLst/>
          </a:prstGeom>
          <a:ln w="1905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255960" y="1444680"/>
            <a:ext cx="345960" cy="345960"/>
          </a:xfrm>
          <a:prstGeom prst="ellipse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255960" y="144468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713160" y="1389960"/>
            <a:ext cx="3747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Feature Engineering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713160" y="1737360"/>
            <a:ext cx="4204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One-hot encode compound (6) + track (9) = 17 features total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429480" y="1792080"/>
            <a:ext cx="360" cy="329040"/>
          </a:xfrm>
          <a:prstGeom prst="line">
            <a:avLst/>
          </a:prstGeom>
          <a:ln w="1905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2"/>
          <p:cNvSpPr/>
          <p:nvPr/>
        </p:nvSpPr>
        <p:spPr>
          <a:xfrm>
            <a:off x="255960" y="2176200"/>
            <a:ext cx="345960" cy="345960"/>
          </a:xfrm>
          <a:prstGeom prst="ellipse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255960" y="217620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713160" y="2121480"/>
            <a:ext cx="3747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Train-Test Split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713160" y="2468880"/>
            <a:ext cx="4204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80% train (698 laps) · 20% test (175 laps) · random_state=42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6"/>
          <p:cNvSpPr/>
          <p:nvPr/>
        </p:nvSpPr>
        <p:spPr>
          <a:xfrm>
            <a:off x="429480" y="2523600"/>
            <a:ext cx="360" cy="329040"/>
          </a:xfrm>
          <a:prstGeom prst="line">
            <a:avLst/>
          </a:prstGeom>
          <a:ln w="1905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255960" y="2907720"/>
            <a:ext cx="345960" cy="345960"/>
          </a:xfrm>
          <a:prstGeom prst="ellipse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8"/>
          <p:cNvSpPr/>
          <p:nvPr/>
        </p:nvSpPr>
        <p:spPr>
          <a:xfrm>
            <a:off x="255960" y="290772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9"/>
          <p:cNvSpPr/>
          <p:nvPr/>
        </p:nvSpPr>
        <p:spPr>
          <a:xfrm>
            <a:off x="713160" y="2853000"/>
            <a:ext cx="3747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Model Training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713160" y="3200400"/>
            <a:ext cx="4204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Random Forest (100 trees, n_jobs=-1)  vs  Linear Regression baseline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1"/>
          <p:cNvSpPr/>
          <p:nvPr/>
        </p:nvSpPr>
        <p:spPr>
          <a:xfrm>
            <a:off x="429480" y="3255120"/>
            <a:ext cx="360" cy="329040"/>
          </a:xfrm>
          <a:prstGeom prst="line">
            <a:avLst/>
          </a:prstGeom>
          <a:ln w="1905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2"/>
          <p:cNvSpPr/>
          <p:nvPr/>
        </p:nvSpPr>
        <p:spPr>
          <a:xfrm>
            <a:off x="255960" y="3639240"/>
            <a:ext cx="345960" cy="345960"/>
          </a:xfrm>
          <a:prstGeom prst="ellipse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3"/>
          <p:cNvSpPr/>
          <p:nvPr/>
        </p:nvSpPr>
        <p:spPr>
          <a:xfrm>
            <a:off x="255960" y="363924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4"/>
          <p:cNvSpPr/>
          <p:nvPr/>
        </p:nvSpPr>
        <p:spPr>
          <a:xfrm>
            <a:off x="713160" y="3584520"/>
            <a:ext cx="3747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Evaluation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5"/>
          <p:cNvSpPr/>
          <p:nvPr/>
        </p:nvSpPr>
        <p:spPr>
          <a:xfrm>
            <a:off x="713160" y="3931920"/>
            <a:ext cx="4204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R²=0.91 · MAE=1.4s · RMSE=2.3s  →  RF selected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6"/>
          <p:cNvSpPr/>
          <p:nvPr/>
        </p:nvSpPr>
        <p:spPr>
          <a:xfrm>
            <a:off x="429480" y="3986640"/>
            <a:ext cx="360" cy="329040"/>
          </a:xfrm>
          <a:prstGeom prst="line">
            <a:avLst/>
          </a:prstGeom>
          <a:ln w="19050">
            <a:solidFill>
              <a:srgbClr val="c8c8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7"/>
          <p:cNvSpPr/>
          <p:nvPr/>
        </p:nvSpPr>
        <p:spPr>
          <a:xfrm>
            <a:off x="255960" y="4370760"/>
            <a:ext cx="345960" cy="345960"/>
          </a:xfrm>
          <a:prstGeom prst="ellipse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8"/>
          <p:cNvSpPr/>
          <p:nvPr/>
        </p:nvSpPr>
        <p:spPr>
          <a:xfrm>
            <a:off x="255960" y="437076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9"/>
          <p:cNvSpPr/>
          <p:nvPr/>
        </p:nvSpPr>
        <p:spPr>
          <a:xfrm>
            <a:off x="713160" y="4316040"/>
            <a:ext cx="3747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Serialization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0"/>
          <p:cNvSpPr/>
          <p:nvPr/>
        </p:nvSpPr>
        <p:spPr>
          <a:xfrm>
            <a:off x="713160" y="4663440"/>
            <a:ext cx="4204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joblib → best_model.pkl + feature_names.pkl (487 KB)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1"/>
          <p:cNvSpPr/>
          <p:nvPr/>
        </p:nvSpPr>
        <p:spPr>
          <a:xfrm>
            <a:off x="5120640" y="640080"/>
            <a:ext cx="3747600" cy="34736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2"/>
          <p:cNvSpPr/>
          <p:nvPr/>
        </p:nvSpPr>
        <p:spPr>
          <a:xfrm>
            <a:off x="5257800" y="713160"/>
            <a:ext cx="34732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Arial Black"/>
                <a:ea typeface="Arial Black"/>
              </a:rPr>
              <a:t>Model Comparison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0" name="Table 0"/>
          <p:cNvGraphicFramePr/>
          <p:nvPr/>
        </p:nvGraphicFramePr>
        <p:xfrm>
          <a:off x="5166360" y="1170360"/>
          <a:ext cx="3657240" cy="230256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28016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Metric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Linear Reg.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Random Forest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R² Score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0.35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0.91 ✓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0.93s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1.40s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1" name="Shape 33"/>
          <p:cNvSpPr/>
          <p:nvPr/>
        </p:nvSpPr>
        <p:spPr>
          <a:xfrm>
            <a:off x="5166360" y="1170360"/>
            <a:ext cx="3656160" cy="3826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4"/>
          <p:cNvSpPr/>
          <p:nvPr/>
        </p:nvSpPr>
        <p:spPr>
          <a:xfrm>
            <a:off x="5166360" y="1170360"/>
            <a:ext cx="12787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Metric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5"/>
          <p:cNvSpPr/>
          <p:nvPr/>
        </p:nvSpPr>
        <p:spPr>
          <a:xfrm>
            <a:off x="6446520" y="1170360"/>
            <a:ext cx="10958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Linear Reg.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6"/>
          <p:cNvSpPr/>
          <p:nvPr/>
        </p:nvSpPr>
        <p:spPr>
          <a:xfrm>
            <a:off x="7543800" y="1170360"/>
            <a:ext cx="12787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Random Forest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7"/>
          <p:cNvSpPr/>
          <p:nvPr/>
        </p:nvSpPr>
        <p:spPr>
          <a:xfrm>
            <a:off x="5166360" y="1554480"/>
            <a:ext cx="3656160" cy="40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8"/>
          <p:cNvSpPr/>
          <p:nvPr/>
        </p:nvSpPr>
        <p:spPr>
          <a:xfrm>
            <a:off x="5166360" y="1554480"/>
            <a:ext cx="127872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R² Score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9"/>
          <p:cNvSpPr/>
          <p:nvPr/>
        </p:nvSpPr>
        <p:spPr>
          <a:xfrm>
            <a:off x="6446520" y="1554480"/>
            <a:ext cx="10958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0.35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40"/>
          <p:cNvSpPr/>
          <p:nvPr/>
        </p:nvSpPr>
        <p:spPr>
          <a:xfrm>
            <a:off x="7543800" y="1554480"/>
            <a:ext cx="127872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2c55e"/>
                </a:solidFill>
                <a:effectLst/>
                <a:uFillTx/>
                <a:latin typeface="Calibri"/>
                <a:ea typeface="Calibri"/>
              </a:rPr>
              <a:t>0.91 ✓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41"/>
          <p:cNvSpPr/>
          <p:nvPr/>
        </p:nvSpPr>
        <p:spPr>
          <a:xfrm>
            <a:off x="5166360" y="1974960"/>
            <a:ext cx="3656160" cy="40104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2"/>
          <p:cNvSpPr/>
          <p:nvPr/>
        </p:nvSpPr>
        <p:spPr>
          <a:xfrm>
            <a:off x="5166360" y="1974960"/>
            <a:ext cx="127872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MAE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3"/>
          <p:cNvSpPr/>
          <p:nvPr/>
        </p:nvSpPr>
        <p:spPr>
          <a:xfrm>
            <a:off x="6446520" y="1974960"/>
            <a:ext cx="10958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0.93 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4"/>
          <p:cNvSpPr/>
          <p:nvPr/>
        </p:nvSpPr>
        <p:spPr>
          <a:xfrm>
            <a:off x="7543800" y="1974960"/>
            <a:ext cx="127872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1.40 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45"/>
          <p:cNvSpPr/>
          <p:nvPr/>
        </p:nvSpPr>
        <p:spPr>
          <a:xfrm>
            <a:off x="5166360" y="2395800"/>
            <a:ext cx="3656160" cy="40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46"/>
          <p:cNvSpPr/>
          <p:nvPr/>
        </p:nvSpPr>
        <p:spPr>
          <a:xfrm>
            <a:off x="5166360" y="2395800"/>
            <a:ext cx="127872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RMSE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7"/>
          <p:cNvSpPr/>
          <p:nvPr/>
        </p:nvSpPr>
        <p:spPr>
          <a:xfrm>
            <a:off x="6446520" y="2395800"/>
            <a:ext cx="10958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4.12 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8"/>
          <p:cNvSpPr/>
          <p:nvPr/>
        </p:nvSpPr>
        <p:spPr>
          <a:xfrm>
            <a:off x="7543800" y="2395800"/>
            <a:ext cx="127872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2.30 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49"/>
          <p:cNvSpPr/>
          <p:nvPr/>
        </p:nvSpPr>
        <p:spPr>
          <a:xfrm>
            <a:off x="5166360" y="2816280"/>
            <a:ext cx="3656160" cy="40104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50"/>
          <p:cNvSpPr/>
          <p:nvPr/>
        </p:nvSpPr>
        <p:spPr>
          <a:xfrm>
            <a:off x="5166360" y="2816280"/>
            <a:ext cx="127872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Train Time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1"/>
          <p:cNvSpPr/>
          <p:nvPr/>
        </p:nvSpPr>
        <p:spPr>
          <a:xfrm>
            <a:off x="6446520" y="2816280"/>
            <a:ext cx="10958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 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52"/>
          <p:cNvSpPr/>
          <p:nvPr/>
        </p:nvSpPr>
        <p:spPr>
          <a:xfrm>
            <a:off x="7543800" y="2816280"/>
            <a:ext cx="127872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45 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53"/>
          <p:cNvSpPr/>
          <p:nvPr/>
        </p:nvSpPr>
        <p:spPr>
          <a:xfrm>
            <a:off x="5166360" y="3255480"/>
            <a:ext cx="3656160" cy="40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4"/>
          <p:cNvSpPr/>
          <p:nvPr/>
        </p:nvSpPr>
        <p:spPr>
          <a:xfrm>
            <a:off x="5166360" y="3237120"/>
            <a:ext cx="127872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Non-linear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55"/>
          <p:cNvSpPr/>
          <p:nvPr/>
        </p:nvSpPr>
        <p:spPr>
          <a:xfrm>
            <a:off x="6446520" y="3237120"/>
            <a:ext cx="10958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56"/>
          <p:cNvSpPr/>
          <p:nvPr/>
        </p:nvSpPr>
        <p:spPr>
          <a:xfrm>
            <a:off x="7543800" y="3237120"/>
            <a:ext cx="127872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0" y="0"/>
            <a:ext cx="9142560" cy="50148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365760" y="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e8003d"/>
                </a:solidFill>
                <a:effectLst/>
                <a:uFillTx/>
                <a:latin typeface="Arial Black"/>
                <a:ea typeface="Arial Black"/>
              </a:rPr>
              <a:t>DATABASE SCHEMA (3NF)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"/>
          <p:cNvSpPr/>
          <p:nvPr/>
        </p:nvSpPr>
        <p:spPr>
          <a:xfrm>
            <a:off x="182880" y="685800"/>
            <a:ext cx="2741760" cy="190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"/>
          <p:cNvSpPr/>
          <p:nvPr/>
        </p:nvSpPr>
        <p:spPr>
          <a:xfrm>
            <a:off x="182880" y="685800"/>
            <a:ext cx="2741760" cy="345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"/>
          <p:cNvSpPr/>
          <p:nvPr/>
        </p:nvSpPr>
        <p:spPr>
          <a:xfrm>
            <a:off x="274320" y="685800"/>
            <a:ext cx="2558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sessions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5"/>
          <p:cNvSpPr/>
          <p:nvPr/>
        </p:nvSpPr>
        <p:spPr>
          <a:xfrm>
            <a:off x="182880" y="1033200"/>
            <a:ext cx="2741760" cy="3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6"/>
          <p:cNvSpPr/>
          <p:nvPr/>
        </p:nvSpPr>
        <p:spPr>
          <a:xfrm>
            <a:off x="274320" y="103320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PK session_id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7"/>
          <p:cNvSpPr/>
          <p:nvPr/>
        </p:nvSpPr>
        <p:spPr>
          <a:xfrm>
            <a:off x="182880" y="1344240"/>
            <a:ext cx="2741760" cy="3096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8"/>
          <p:cNvSpPr/>
          <p:nvPr/>
        </p:nvSpPr>
        <p:spPr>
          <a:xfrm>
            <a:off x="274320" y="134424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track_name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9"/>
          <p:cNvSpPr/>
          <p:nvPr/>
        </p:nvSpPr>
        <p:spPr>
          <a:xfrm>
            <a:off x="182880" y="1654920"/>
            <a:ext cx="2741760" cy="3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0"/>
          <p:cNvSpPr/>
          <p:nvPr/>
        </p:nvSpPr>
        <p:spPr>
          <a:xfrm>
            <a:off x="274320" y="165492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session_type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1"/>
          <p:cNvSpPr/>
          <p:nvPr/>
        </p:nvSpPr>
        <p:spPr>
          <a:xfrm>
            <a:off x="182880" y="1965960"/>
            <a:ext cx="2741760" cy="3096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2"/>
          <p:cNvSpPr/>
          <p:nvPr/>
        </p:nvSpPr>
        <p:spPr>
          <a:xfrm>
            <a:off x="274320" y="196596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weather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3"/>
          <p:cNvSpPr/>
          <p:nvPr/>
        </p:nvSpPr>
        <p:spPr>
          <a:xfrm>
            <a:off x="182880" y="2277000"/>
            <a:ext cx="2741760" cy="3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4"/>
          <p:cNvSpPr/>
          <p:nvPr/>
        </p:nvSpPr>
        <p:spPr>
          <a:xfrm>
            <a:off x="274320" y="227700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5"/>
          <p:cNvSpPr/>
          <p:nvPr/>
        </p:nvSpPr>
        <p:spPr>
          <a:xfrm>
            <a:off x="3200400" y="685800"/>
            <a:ext cx="2741760" cy="283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6"/>
          <p:cNvSpPr/>
          <p:nvPr/>
        </p:nvSpPr>
        <p:spPr>
          <a:xfrm>
            <a:off x="3200400" y="685800"/>
            <a:ext cx="2741760" cy="345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7"/>
          <p:cNvSpPr/>
          <p:nvPr/>
        </p:nvSpPr>
        <p:spPr>
          <a:xfrm>
            <a:off x="3291840" y="685800"/>
            <a:ext cx="2558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laps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8"/>
          <p:cNvSpPr/>
          <p:nvPr/>
        </p:nvSpPr>
        <p:spPr>
          <a:xfrm>
            <a:off x="3200400" y="1033200"/>
            <a:ext cx="2741760" cy="3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9"/>
          <p:cNvSpPr/>
          <p:nvPr/>
        </p:nvSpPr>
        <p:spPr>
          <a:xfrm>
            <a:off x="3291840" y="103320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PK lap_id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0"/>
          <p:cNvSpPr/>
          <p:nvPr/>
        </p:nvSpPr>
        <p:spPr>
          <a:xfrm>
            <a:off x="3200400" y="1344240"/>
            <a:ext cx="2741760" cy="3096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1"/>
          <p:cNvSpPr/>
          <p:nvPr/>
        </p:nvSpPr>
        <p:spPr>
          <a:xfrm>
            <a:off x="3291840" y="134424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FK session_id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2"/>
          <p:cNvSpPr/>
          <p:nvPr/>
        </p:nvSpPr>
        <p:spPr>
          <a:xfrm>
            <a:off x="3200400" y="1654920"/>
            <a:ext cx="2741760" cy="3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3"/>
          <p:cNvSpPr/>
          <p:nvPr/>
        </p:nvSpPr>
        <p:spPr>
          <a:xfrm>
            <a:off x="3291840" y="165492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lap_number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4"/>
          <p:cNvSpPr/>
          <p:nvPr/>
        </p:nvSpPr>
        <p:spPr>
          <a:xfrm>
            <a:off x="3200400" y="1965960"/>
            <a:ext cx="2741760" cy="3096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5"/>
          <p:cNvSpPr/>
          <p:nvPr/>
        </p:nvSpPr>
        <p:spPr>
          <a:xfrm>
            <a:off x="3291840" y="196596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lap_time_ms (INT)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6"/>
          <p:cNvSpPr/>
          <p:nvPr/>
        </p:nvSpPr>
        <p:spPr>
          <a:xfrm>
            <a:off x="3200400" y="2277000"/>
            <a:ext cx="2741760" cy="3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7"/>
          <p:cNvSpPr/>
          <p:nvPr/>
        </p:nvSpPr>
        <p:spPr>
          <a:xfrm>
            <a:off x="3291840" y="227700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tyre_compound (ENUM)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8"/>
          <p:cNvSpPr/>
          <p:nvPr/>
        </p:nvSpPr>
        <p:spPr>
          <a:xfrm>
            <a:off x="3200400" y="2587680"/>
            <a:ext cx="2741760" cy="3096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9"/>
          <p:cNvSpPr/>
          <p:nvPr/>
        </p:nvSpPr>
        <p:spPr>
          <a:xfrm>
            <a:off x="3291840" y="258768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tyre_age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30"/>
          <p:cNvSpPr/>
          <p:nvPr/>
        </p:nvSpPr>
        <p:spPr>
          <a:xfrm>
            <a:off x="3200400" y="2898360"/>
            <a:ext cx="2741760" cy="3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1"/>
          <p:cNvSpPr/>
          <p:nvPr/>
        </p:nvSpPr>
        <p:spPr>
          <a:xfrm>
            <a:off x="3291840" y="289872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fuel_load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2"/>
          <p:cNvSpPr/>
          <p:nvPr/>
        </p:nvSpPr>
        <p:spPr>
          <a:xfrm>
            <a:off x="3200760" y="3209040"/>
            <a:ext cx="2741760" cy="3096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3"/>
          <p:cNvSpPr/>
          <p:nvPr/>
        </p:nvSpPr>
        <p:spPr>
          <a:xfrm>
            <a:off x="3200760" y="320940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is_valid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4"/>
          <p:cNvSpPr/>
          <p:nvPr/>
        </p:nvSpPr>
        <p:spPr>
          <a:xfrm>
            <a:off x="6172200" y="685800"/>
            <a:ext cx="2741760" cy="283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35"/>
          <p:cNvSpPr/>
          <p:nvPr/>
        </p:nvSpPr>
        <p:spPr>
          <a:xfrm>
            <a:off x="6172560" y="685800"/>
            <a:ext cx="2741760" cy="345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6"/>
          <p:cNvSpPr/>
          <p:nvPr/>
        </p:nvSpPr>
        <p:spPr>
          <a:xfrm>
            <a:off x="6172560" y="685800"/>
            <a:ext cx="2558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telemetry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7"/>
          <p:cNvSpPr/>
          <p:nvPr/>
        </p:nvSpPr>
        <p:spPr>
          <a:xfrm>
            <a:off x="6172560" y="1060920"/>
            <a:ext cx="2741760" cy="3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8"/>
          <p:cNvSpPr/>
          <p:nvPr/>
        </p:nvSpPr>
        <p:spPr>
          <a:xfrm>
            <a:off x="6172200" y="106092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PK telemetry_id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39"/>
          <p:cNvSpPr/>
          <p:nvPr/>
        </p:nvSpPr>
        <p:spPr>
          <a:xfrm>
            <a:off x="6172560" y="1371600"/>
            <a:ext cx="2741760" cy="3096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0"/>
          <p:cNvSpPr/>
          <p:nvPr/>
        </p:nvSpPr>
        <p:spPr>
          <a:xfrm>
            <a:off x="6172200" y="137160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FK lap_id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41"/>
          <p:cNvSpPr/>
          <p:nvPr/>
        </p:nvSpPr>
        <p:spPr>
          <a:xfrm>
            <a:off x="6172200" y="1682280"/>
            <a:ext cx="2741760" cy="3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2"/>
          <p:cNvSpPr/>
          <p:nvPr/>
        </p:nvSpPr>
        <p:spPr>
          <a:xfrm>
            <a:off x="6172200" y="168228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speed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43"/>
          <p:cNvSpPr/>
          <p:nvPr/>
        </p:nvSpPr>
        <p:spPr>
          <a:xfrm>
            <a:off x="6172200" y="1992960"/>
            <a:ext cx="2741760" cy="3096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4"/>
          <p:cNvSpPr/>
          <p:nvPr/>
        </p:nvSpPr>
        <p:spPr>
          <a:xfrm>
            <a:off x="6172200" y="199296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throttle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45"/>
          <p:cNvSpPr/>
          <p:nvPr/>
        </p:nvSpPr>
        <p:spPr>
          <a:xfrm>
            <a:off x="6172200" y="2303640"/>
            <a:ext cx="2741760" cy="3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46"/>
          <p:cNvSpPr/>
          <p:nvPr/>
        </p:nvSpPr>
        <p:spPr>
          <a:xfrm>
            <a:off x="6172200" y="230364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brake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47"/>
          <p:cNvSpPr/>
          <p:nvPr/>
        </p:nvSpPr>
        <p:spPr>
          <a:xfrm>
            <a:off x="6172200" y="2614320"/>
            <a:ext cx="2741760" cy="3096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8"/>
          <p:cNvSpPr/>
          <p:nvPr/>
        </p:nvSpPr>
        <p:spPr>
          <a:xfrm>
            <a:off x="6172200" y="261432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gear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49"/>
          <p:cNvSpPr/>
          <p:nvPr/>
        </p:nvSpPr>
        <p:spPr>
          <a:xfrm>
            <a:off x="6172560" y="2925000"/>
            <a:ext cx="2741760" cy="3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50"/>
          <p:cNvSpPr/>
          <p:nvPr/>
        </p:nvSpPr>
        <p:spPr>
          <a:xfrm>
            <a:off x="6172200" y="292500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RPM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51"/>
          <p:cNvSpPr/>
          <p:nvPr/>
        </p:nvSpPr>
        <p:spPr>
          <a:xfrm>
            <a:off x="6172200" y="3235680"/>
            <a:ext cx="2741760" cy="3096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52"/>
          <p:cNvSpPr/>
          <p:nvPr/>
        </p:nvSpPr>
        <p:spPr>
          <a:xfrm>
            <a:off x="6172560" y="323568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DRS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53"/>
          <p:cNvSpPr/>
          <p:nvPr/>
        </p:nvSpPr>
        <p:spPr>
          <a:xfrm>
            <a:off x="228960" y="2752560"/>
            <a:ext cx="2741760" cy="158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54"/>
          <p:cNvSpPr/>
          <p:nvPr/>
        </p:nvSpPr>
        <p:spPr>
          <a:xfrm>
            <a:off x="228960" y="2743200"/>
            <a:ext cx="2741760" cy="345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5"/>
          <p:cNvSpPr/>
          <p:nvPr/>
        </p:nvSpPr>
        <p:spPr>
          <a:xfrm>
            <a:off x="228600" y="2743200"/>
            <a:ext cx="2558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strategy_events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56"/>
          <p:cNvSpPr/>
          <p:nvPr/>
        </p:nvSpPr>
        <p:spPr>
          <a:xfrm>
            <a:off x="228960" y="3118320"/>
            <a:ext cx="2741760" cy="3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57"/>
          <p:cNvSpPr/>
          <p:nvPr/>
        </p:nvSpPr>
        <p:spPr>
          <a:xfrm>
            <a:off x="183240" y="311832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PK event_id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58"/>
          <p:cNvSpPr/>
          <p:nvPr/>
        </p:nvSpPr>
        <p:spPr>
          <a:xfrm>
            <a:off x="228600" y="3429000"/>
            <a:ext cx="2741760" cy="3096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59"/>
          <p:cNvSpPr/>
          <p:nvPr/>
        </p:nvSpPr>
        <p:spPr>
          <a:xfrm>
            <a:off x="228600" y="342900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FK lap_id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60"/>
          <p:cNvSpPr/>
          <p:nvPr/>
        </p:nvSpPr>
        <p:spPr>
          <a:xfrm>
            <a:off x="228960" y="3722040"/>
            <a:ext cx="2741760" cy="3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61"/>
          <p:cNvSpPr/>
          <p:nvPr/>
        </p:nvSpPr>
        <p:spPr>
          <a:xfrm>
            <a:off x="228600" y="372204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event_type (ENUM)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62"/>
          <p:cNvSpPr/>
          <p:nvPr/>
        </p:nvSpPr>
        <p:spPr>
          <a:xfrm>
            <a:off x="228600" y="4032720"/>
            <a:ext cx="2741760" cy="30960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63"/>
          <p:cNvSpPr/>
          <p:nvPr/>
        </p:nvSpPr>
        <p:spPr>
          <a:xfrm>
            <a:off x="228600" y="4032720"/>
            <a:ext cx="25588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duration_sec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64"/>
          <p:cNvSpPr/>
          <p:nvPr/>
        </p:nvSpPr>
        <p:spPr>
          <a:xfrm>
            <a:off x="2926080" y="1417680"/>
            <a:ext cx="274320" cy="360"/>
          </a:xfrm>
          <a:prstGeom prst="line">
            <a:avLst/>
          </a:prstGeom>
          <a:ln w="1905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66"/>
          <p:cNvSpPr/>
          <p:nvPr/>
        </p:nvSpPr>
        <p:spPr>
          <a:xfrm>
            <a:off x="3200400" y="2971800"/>
            <a:ext cx="360" cy="360"/>
          </a:xfrm>
          <a:prstGeom prst="line">
            <a:avLst/>
          </a:prstGeom>
          <a:ln w="1905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67"/>
          <p:cNvSpPr/>
          <p:nvPr/>
        </p:nvSpPr>
        <p:spPr>
          <a:xfrm>
            <a:off x="182880" y="4709160"/>
            <a:ext cx="87768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PK = Primary Key   FK = Foreign Key (CASCADE DELETE)   Storage: ~2MB for 900+ laps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0" y="0"/>
            <a:ext cx="9142560" cy="50148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365760" y="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e8003d"/>
                </a:solidFill>
                <a:effectLst/>
                <a:uFillTx/>
                <a:latin typeface="Arial Black"/>
                <a:ea typeface="Arial Black"/>
              </a:rPr>
              <a:t>DATASET &amp;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"/>
          <p:cNvSpPr/>
          <p:nvPr/>
        </p:nvSpPr>
        <p:spPr>
          <a:xfrm>
            <a:off x="274320" y="640080"/>
            <a:ext cx="2741760" cy="370224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"/>
          <p:cNvSpPr/>
          <p:nvPr/>
        </p:nvSpPr>
        <p:spPr>
          <a:xfrm>
            <a:off x="365760" y="713160"/>
            <a:ext cx="2558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Arial Black"/>
                <a:ea typeface="Arial Black"/>
              </a:rPr>
              <a:t>Dataset Stats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4"/>
          <p:cNvSpPr/>
          <p:nvPr/>
        </p:nvSpPr>
        <p:spPr>
          <a:xfrm>
            <a:off x="384120" y="1143000"/>
            <a:ext cx="14616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Total Laps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5"/>
          <p:cNvSpPr/>
          <p:nvPr/>
        </p:nvSpPr>
        <p:spPr>
          <a:xfrm>
            <a:off x="1874520" y="1143000"/>
            <a:ext cx="1004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912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6"/>
          <p:cNvSpPr/>
          <p:nvPr/>
        </p:nvSpPr>
        <p:spPr>
          <a:xfrm>
            <a:off x="384120" y="1527120"/>
            <a:ext cx="14616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Valid Laps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7"/>
          <p:cNvSpPr/>
          <p:nvPr/>
        </p:nvSpPr>
        <p:spPr>
          <a:xfrm>
            <a:off x="1874520" y="1527120"/>
            <a:ext cx="1004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873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8"/>
          <p:cNvSpPr/>
          <p:nvPr/>
        </p:nvSpPr>
        <p:spPr>
          <a:xfrm>
            <a:off x="384120" y="1911240"/>
            <a:ext cx="14616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Unique Tracks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9"/>
          <p:cNvSpPr/>
          <p:nvPr/>
        </p:nvSpPr>
        <p:spPr>
          <a:xfrm>
            <a:off x="1874520" y="1911240"/>
            <a:ext cx="1004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0"/>
          <p:cNvSpPr/>
          <p:nvPr/>
        </p:nvSpPr>
        <p:spPr>
          <a:xfrm>
            <a:off x="384120" y="2295000"/>
            <a:ext cx="14616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Tyre Compounds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1"/>
          <p:cNvSpPr/>
          <p:nvPr/>
        </p:nvSpPr>
        <p:spPr>
          <a:xfrm>
            <a:off x="1874520" y="2295000"/>
            <a:ext cx="1004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2"/>
          <p:cNvSpPr/>
          <p:nvPr/>
        </p:nvSpPr>
        <p:spPr>
          <a:xfrm>
            <a:off x="384120" y="2679120"/>
            <a:ext cx="14616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Sessions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3"/>
          <p:cNvSpPr/>
          <p:nvPr/>
        </p:nvSpPr>
        <p:spPr>
          <a:xfrm>
            <a:off x="1874520" y="2679120"/>
            <a:ext cx="1004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4"/>
          <p:cNvSpPr/>
          <p:nvPr/>
        </p:nvSpPr>
        <p:spPr>
          <a:xfrm>
            <a:off x="384120" y="3063240"/>
            <a:ext cx="14616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Avg Lap Time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5"/>
          <p:cNvSpPr/>
          <p:nvPr/>
        </p:nvSpPr>
        <p:spPr>
          <a:xfrm>
            <a:off x="1874520" y="3063240"/>
            <a:ext cx="1004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87.34 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6"/>
          <p:cNvSpPr/>
          <p:nvPr/>
        </p:nvSpPr>
        <p:spPr>
          <a:xfrm>
            <a:off x="384120" y="3447360"/>
            <a:ext cx="14616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Train Split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7"/>
          <p:cNvSpPr/>
          <p:nvPr/>
        </p:nvSpPr>
        <p:spPr>
          <a:xfrm>
            <a:off x="1874520" y="3447360"/>
            <a:ext cx="1004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698 (80%)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8"/>
          <p:cNvSpPr/>
          <p:nvPr/>
        </p:nvSpPr>
        <p:spPr>
          <a:xfrm>
            <a:off x="384120" y="3831480"/>
            <a:ext cx="14616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Test Split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9"/>
          <p:cNvSpPr/>
          <p:nvPr/>
        </p:nvSpPr>
        <p:spPr>
          <a:xfrm>
            <a:off x="1874520" y="3831480"/>
            <a:ext cx="1004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175 (20%)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2" name="Chart 0"/>
          <p:cNvGraphicFramePr/>
          <p:nvPr/>
        </p:nvGraphicFramePr>
        <p:xfrm>
          <a:off x="3246120" y="640080"/>
          <a:ext cx="3016080" cy="347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73" name="Chart 1"/>
          <p:cNvGraphicFramePr/>
          <p:nvPr/>
        </p:nvGraphicFramePr>
        <p:xfrm>
          <a:off x="6400800" y="640080"/>
          <a:ext cx="2513160" cy="347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4" name="Text 20"/>
          <p:cNvSpPr/>
          <p:nvPr/>
        </p:nvSpPr>
        <p:spPr>
          <a:xfrm>
            <a:off x="274320" y="4663440"/>
            <a:ext cx="85939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Source: F1 2018 Game (UDP capture) + FastF1 API (validation) · 5-fold CV MAE = 1.48s ± 0.06s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0"/>
          <p:cNvSpPr/>
          <p:nvPr/>
        </p:nvSpPr>
        <p:spPr>
          <a:xfrm>
            <a:off x="0" y="0"/>
            <a:ext cx="9142560" cy="50148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"/>
          <p:cNvSpPr/>
          <p:nvPr/>
        </p:nvSpPr>
        <p:spPr>
          <a:xfrm>
            <a:off x="365760" y="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e8003d"/>
                </a:solidFill>
                <a:effectLst/>
                <a:uFillTx/>
                <a:latin typeface="Arial Black"/>
                <a:ea typeface="Arial Black"/>
              </a:rPr>
              <a:t>RESULTS: TYRE DEGRADATION CURVES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7" name="Chart 0"/>
          <p:cNvGraphicFramePr/>
          <p:nvPr/>
        </p:nvGraphicFramePr>
        <p:xfrm>
          <a:off x="274320" y="594360"/>
          <a:ext cx="5119200" cy="415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78" name="Shape 2"/>
          <p:cNvSpPr/>
          <p:nvPr/>
        </p:nvSpPr>
        <p:spPr>
          <a:xfrm>
            <a:off x="5669280" y="594360"/>
            <a:ext cx="3244680" cy="415908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"/>
          <p:cNvSpPr/>
          <p:nvPr/>
        </p:nvSpPr>
        <p:spPr>
          <a:xfrm>
            <a:off x="5806440" y="667440"/>
            <a:ext cx="2970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1a2e"/>
                </a:solidFill>
                <a:effectLst/>
                <a:uFillTx/>
                <a:latin typeface="Arial Black"/>
                <a:ea typeface="Arial Black"/>
              </a:rPr>
              <a:t>Key Insights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4"/>
          <p:cNvSpPr/>
          <p:nvPr/>
        </p:nvSpPr>
        <p:spPr>
          <a:xfrm>
            <a:off x="5806440" y="1170360"/>
            <a:ext cx="272880" cy="272880"/>
          </a:xfrm>
          <a:prstGeom prst="ellipse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5"/>
          <p:cNvSpPr/>
          <p:nvPr/>
        </p:nvSpPr>
        <p:spPr>
          <a:xfrm>
            <a:off x="5806440" y="1170360"/>
            <a:ext cx="2728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6"/>
          <p:cNvSpPr/>
          <p:nvPr/>
        </p:nvSpPr>
        <p:spPr>
          <a:xfrm>
            <a:off x="6144840" y="1115640"/>
            <a:ext cx="265032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Softer compounds: faster start, faster degradation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7"/>
          <p:cNvSpPr/>
          <p:nvPr/>
        </p:nvSpPr>
        <p:spPr>
          <a:xfrm>
            <a:off x="5806440" y="1746360"/>
            <a:ext cx="272880" cy="272880"/>
          </a:xfrm>
          <a:prstGeom prst="ellipse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8"/>
          <p:cNvSpPr/>
          <p:nvPr/>
        </p:nvSpPr>
        <p:spPr>
          <a:xfrm>
            <a:off x="5806440" y="1746360"/>
            <a:ext cx="2728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9"/>
          <p:cNvSpPr/>
          <p:nvPr/>
        </p:nvSpPr>
        <p:spPr>
          <a:xfrm>
            <a:off x="6144840" y="1691640"/>
            <a:ext cx="265032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All compounds converge ~118-119s by lap 20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0"/>
          <p:cNvSpPr/>
          <p:nvPr/>
        </p:nvSpPr>
        <p:spPr>
          <a:xfrm>
            <a:off x="5806440" y="2322720"/>
            <a:ext cx="272880" cy="272880"/>
          </a:xfrm>
          <a:prstGeom prst="ellipse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1"/>
          <p:cNvSpPr/>
          <p:nvPr/>
        </p:nvSpPr>
        <p:spPr>
          <a:xfrm>
            <a:off x="5806440" y="2322720"/>
            <a:ext cx="2728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2"/>
          <p:cNvSpPr/>
          <p:nvPr/>
        </p:nvSpPr>
        <p:spPr>
          <a:xfrm>
            <a:off x="6144840" y="2267640"/>
            <a:ext cx="265032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Hypersoft: 2.2s/lap faster initially, +14.3s degradation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3"/>
          <p:cNvSpPr/>
          <p:nvPr/>
        </p:nvSpPr>
        <p:spPr>
          <a:xfrm>
            <a:off x="5806440" y="2898720"/>
            <a:ext cx="272880" cy="272880"/>
          </a:xfrm>
          <a:prstGeom prst="ellipse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4"/>
          <p:cNvSpPr/>
          <p:nvPr/>
        </p:nvSpPr>
        <p:spPr>
          <a:xfrm>
            <a:off x="5806440" y="2898720"/>
            <a:ext cx="2728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5"/>
          <p:cNvSpPr/>
          <p:nvPr/>
        </p:nvSpPr>
        <p:spPr>
          <a:xfrm>
            <a:off x="6144840" y="2843640"/>
            <a:ext cx="265032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Hard tyres: slowest start, best longevity (+6.1s total)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6"/>
          <p:cNvSpPr/>
          <p:nvPr/>
        </p:nvSpPr>
        <p:spPr>
          <a:xfrm>
            <a:off x="5806440" y="3474720"/>
            <a:ext cx="272880" cy="272880"/>
          </a:xfrm>
          <a:prstGeom prst="ellipse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7"/>
          <p:cNvSpPr/>
          <p:nvPr/>
        </p:nvSpPr>
        <p:spPr>
          <a:xfrm>
            <a:off x="5806440" y="3474720"/>
            <a:ext cx="2728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8"/>
          <p:cNvSpPr/>
          <p:nvPr/>
        </p:nvSpPr>
        <p:spPr>
          <a:xfrm>
            <a:off x="6144840" y="3420000"/>
            <a:ext cx="265032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Tyre cliff at laps 15-20 — optimal pit window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9"/>
          <p:cNvSpPr/>
          <p:nvPr/>
        </p:nvSpPr>
        <p:spPr>
          <a:xfrm>
            <a:off x="5806440" y="4050720"/>
            <a:ext cx="272880" cy="272880"/>
          </a:xfrm>
          <a:prstGeom prst="ellipse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0"/>
          <p:cNvSpPr/>
          <p:nvPr/>
        </p:nvSpPr>
        <p:spPr>
          <a:xfrm>
            <a:off x="5806440" y="4050720"/>
            <a:ext cx="2728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1"/>
          <p:cNvSpPr/>
          <p:nvPr/>
        </p:nvSpPr>
        <p:spPr>
          <a:xfrm>
            <a:off x="6144840" y="3996000"/>
            <a:ext cx="265032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Pit stop time ~23s → strategy depends on cliff timing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0"/>
          <p:cNvSpPr/>
          <p:nvPr/>
        </p:nvSpPr>
        <p:spPr>
          <a:xfrm>
            <a:off x="0" y="0"/>
            <a:ext cx="9142560" cy="50148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"/>
          <p:cNvSpPr/>
          <p:nvPr/>
        </p:nvSpPr>
        <p:spPr>
          <a:xfrm>
            <a:off x="365760" y="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e8003d"/>
                </a:solidFill>
                <a:effectLst/>
                <a:uFillTx/>
                <a:latin typeface="Arial Black"/>
                <a:ea typeface="Arial Black"/>
              </a:rPr>
              <a:t>EMPIRICAL EVALUATION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"/>
          <p:cNvSpPr/>
          <p:nvPr/>
        </p:nvSpPr>
        <p:spPr>
          <a:xfrm>
            <a:off x="274320" y="594360"/>
            <a:ext cx="2010240" cy="13701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"/>
          <p:cNvSpPr/>
          <p:nvPr/>
        </p:nvSpPr>
        <p:spPr>
          <a:xfrm>
            <a:off x="274320" y="658440"/>
            <a:ext cx="2010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e8003d"/>
                </a:solidFill>
                <a:effectLst/>
                <a:uFillTx/>
                <a:latin typeface="Arial Black"/>
                <a:ea typeface="Arial Black"/>
              </a:rPr>
              <a:t>0.908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4"/>
          <p:cNvSpPr/>
          <p:nvPr/>
        </p:nvSpPr>
        <p:spPr>
          <a:xfrm>
            <a:off x="274320" y="129852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R² Score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5"/>
          <p:cNvSpPr/>
          <p:nvPr/>
        </p:nvSpPr>
        <p:spPr>
          <a:xfrm>
            <a:off x="274320" y="1618560"/>
            <a:ext cx="20102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8c8c8"/>
                </a:solidFill>
                <a:effectLst/>
                <a:uFillTx/>
                <a:latin typeface="Calibri"/>
                <a:ea typeface="Calibri"/>
              </a:rPr>
              <a:t>Target ≥ 0.85 — Exceeded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6"/>
          <p:cNvSpPr/>
          <p:nvPr/>
        </p:nvSpPr>
        <p:spPr>
          <a:xfrm>
            <a:off x="2441520" y="594360"/>
            <a:ext cx="2010240" cy="13701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7"/>
          <p:cNvSpPr/>
          <p:nvPr/>
        </p:nvSpPr>
        <p:spPr>
          <a:xfrm>
            <a:off x="2441520" y="658440"/>
            <a:ext cx="2010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e8003d"/>
                </a:solidFill>
                <a:effectLst/>
                <a:uFillTx/>
                <a:latin typeface="Arial Black"/>
                <a:ea typeface="Arial Black"/>
              </a:rPr>
              <a:t>1.40s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8"/>
          <p:cNvSpPr/>
          <p:nvPr/>
        </p:nvSpPr>
        <p:spPr>
          <a:xfrm>
            <a:off x="2441520" y="129852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9"/>
          <p:cNvSpPr/>
          <p:nvPr/>
        </p:nvSpPr>
        <p:spPr>
          <a:xfrm>
            <a:off x="2441520" y="1618560"/>
            <a:ext cx="20102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8c8c8"/>
                </a:solidFill>
                <a:effectLst/>
                <a:uFillTx/>
                <a:latin typeface="Calibri"/>
                <a:ea typeface="Calibri"/>
              </a:rPr>
              <a:t>Target ≤ 2.0s — 30% better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0"/>
          <p:cNvSpPr/>
          <p:nvPr/>
        </p:nvSpPr>
        <p:spPr>
          <a:xfrm>
            <a:off x="4608720" y="594360"/>
            <a:ext cx="2010240" cy="13701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1"/>
          <p:cNvSpPr/>
          <p:nvPr/>
        </p:nvSpPr>
        <p:spPr>
          <a:xfrm>
            <a:off x="4608720" y="658440"/>
            <a:ext cx="2010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e8003d"/>
                </a:solidFill>
                <a:effectLst/>
                <a:uFillTx/>
                <a:latin typeface="Arial Black"/>
                <a:ea typeface="Arial Black"/>
              </a:rPr>
              <a:t>47ms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2"/>
          <p:cNvSpPr/>
          <p:nvPr/>
        </p:nvSpPr>
        <p:spPr>
          <a:xfrm>
            <a:off x="4608720" y="129852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Prediction Latency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3"/>
          <p:cNvSpPr/>
          <p:nvPr/>
        </p:nvSpPr>
        <p:spPr>
          <a:xfrm>
            <a:off x="4608720" y="1618560"/>
            <a:ext cx="20102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8c8c8"/>
                </a:solidFill>
                <a:effectLst/>
                <a:uFillTx/>
                <a:latin typeface="Calibri"/>
                <a:ea typeface="Calibri"/>
              </a:rPr>
              <a:t>Target &lt;100ms — 53% faster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4"/>
          <p:cNvSpPr/>
          <p:nvPr/>
        </p:nvSpPr>
        <p:spPr>
          <a:xfrm>
            <a:off x="6775560" y="594360"/>
            <a:ext cx="2010240" cy="13701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5"/>
          <p:cNvSpPr/>
          <p:nvPr/>
        </p:nvSpPr>
        <p:spPr>
          <a:xfrm>
            <a:off x="6775560" y="658440"/>
            <a:ext cx="2010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e8003d"/>
                </a:solidFill>
                <a:effectLst/>
                <a:uFillTx/>
                <a:latin typeface="Arial Black"/>
                <a:ea typeface="Arial Black"/>
              </a:rPr>
              <a:t>98%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6"/>
          <p:cNvSpPr/>
          <p:nvPr/>
        </p:nvSpPr>
        <p:spPr>
          <a:xfrm>
            <a:off x="6775560" y="129852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Storage Reduction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7"/>
          <p:cNvSpPr/>
          <p:nvPr/>
        </p:nvSpPr>
        <p:spPr>
          <a:xfrm>
            <a:off x="6775560" y="1618560"/>
            <a:ext cx="20102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8c8c8"/>
                </a:solidFill>
                <a:effectLst/>
                <a:uFillTx/>
                <a:latin typeface="Calibri"/>
                <a:ea typeface="Calibri"/>
              </a:rPr>
              <a:t>36K → 600 samples/session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6" name="Chart 0"/>
          <p:cNvGraphicFramePr/>
          <p:nvPr/>
        </p:nvGraphicFramePr>
        <p:xfrm>
          <a:off x="274320" y="2148840"/>
          <a:ext cx="8593920" cy="274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transition spd="slow">
    <p:push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0"/>
          <p:cNvSpPr/>
          <p:nvPr/>
        </p:nvSpPr>
        <p:spPr>
          <a:xfrm>
            <a:off x="0" y="0"/>
            <a:ext cx="227160" cy="5142240"/>
          </a:xfrm>
          <a:prstGeom prst="rect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"/>
          <p:cNvSpPr/>
          <p:nvPr/>
        </p:nvSpPr>
        <p:spPr>
          <a:xfrm>
            <a:off x="228600" y="0"/>
            <a:ext cx="8913960" cy="53280"/>
          </a:xfrm>
          <a:prstGeom prst="rect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"/>
          <p:cNvSpPr/>
          <p:nvPr/>
        </p:nvSpPr>
        <p:spPr>
          <a:xfrm>
            <a:off x="457200" y="18288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e8003d"/>
                </a:solidFill>
                <a:effectLst/>
                <a:uFillTx/>
                <a:latin typeface="Arial Black"/>
                <a:ea typeface="Arial Black"/>
              </a:rPr>
              <a:t>CONCLUSION &amp; FUTURE SCOPE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3"/>
          <p:cNvSpPr/>
          <p:nvPr/>
        </p:nvSpPr>
        <p:spPr>
          <a:xfrm>
            <a:off x="457200" y="1280880"/>
            <a:ext cx="4936320" cy="28332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4"/>
          <p:cNvSpPr/>
          <p:nvPr/>
        </p:nvSpPr>
        <p:spPr>
          <a:xfrm>
            <a:off x="457200" y="1371600"/>
            <a:ext cx="46620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e8003d"/>
                </a:solidFill>
                <a:effectLst/>
                <a:uFillTx/>
                <a:latin typeface="Arial Black"/>
                <a:ea typeface="Arial Black"/>
              </a:rPr>
              <a:t>Key Achievements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5"/>
          <p:cNvSpPr/>
          <p:nvPr/>
        </p:nvSpPr>
        <p:spPr>
          <a:xfrm>
            <a:off x="457200" y="1968120"/>
            <a:ext cx="46620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R² = 0.908 — exceeds published research (Heilmeier 0.89) with smaller dataset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6"/>
          <p:cNvSpPr/>
          <p:nvPr/>
        </p:nvSpPr>
        <p:spPr>
          <a:xfrm>
            <a:off x="457200" y="2378880"/>
            <a:ext cx="46620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MAE = 1.40s — 30% better than 2.0s target; Lower than Bhowick ARIMA (2.80s)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7"/>
          <p:cNvSpPr/>
          <p:nvPr/>
        </p:nvSpPr>
        <p:spPr>
          <a:xfrm>
            <a:off x="457200" y="2789640"/>
            <a:ext cx="46620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98.3% storage reduction — 706 MB raw → 2.1 MB MySQL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8"/>
          <p:cNvSpPr/>
          <p:nvPr/>
        </p:nvSpPr>
        <p:spPr>
          <a:xfrm>
            <a:off x="457200" y="3200400"/>
            <a:ext cx="46620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Zero packet loss across 548,000+ UDP packets received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9"/>
          <p:cNvSpPr/>
          <p:nvPr/>
        </p:nvSpPr>
        <p:spPr>
          <a:xfrm>
            <a:off x="457200" y="3611160"/>
            <a:ext cx="46620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8003d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$0 software cost vs $200,000+ for McLaren ATLAS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0"/>
          <p:cNvSpPr/>
          <p:nvPr/>
        </p:nvSpPr>
        <p:spPr>
          <a:xfrm>
            <a:off x="5577840" y="804600"/>
            <a:ext cx="32904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e8003d"/>
                </a:solidFill>
                <a:effectLst/>
                <a:uFillTx/>
                <a:latin typeface="Arial Black"/>
                <a:ea typeface="Arial Black"/>
              </a:rPr>
              <a:t>🛣  Future Roadmap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1"/>
          <p:cNvSpPr/>
          <p:nvPr/>
        </p:nvSpPr>
        <p:spPr>
          <a:xfrm>
            <a:off x="5577840" y="1234440"/>
            <a:ext cx="3244680" cy="711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2"/>
          <p:cNvSpPr/>
          <p:nvPr/>
        </p:nvSpPr>
        <p:spPr>
          <a:xfrm>
            <a:off x="5577840" y="1234440"/>
            <a:ext cx="62640" cy="711720"/>
          </a:xfrm>
          <a:prstGeom prst="rect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3"/>
          <p:cNvSpPr/>
          <p:nvPr/>
        </p:nvSpPr>
        <p:spPr>
          <a:xfrm>
            <a:off x="5715000" y="1271160"/>
            <a:ext cx="10958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4"/>
          <p:cNvSpPr/>
          <p:nvPr/>
        </p:nvSpPr>
        <p:spPr>
          <a:xfrm>
            <a:off x="5715000" y="1289880"/>
            <a:ext cx="3016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Expansion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5"/>
          <p:cNvSpPr/>
          <p:nvPr/>
        </p:nvSpPr>
        <p:spPr>
          <a:xfrm>
            <a:off x="5715000" y="1563480"/>
            <a:ext cx="3016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c8c8c8"/>
                </a:solidFill>
                <a:effectLst/>
                <a:uFillTx/>
                <a:latin typeface="Calibri"/>
                <a:ea typeface="Calibri"/>
              </a:rPr>
              <a:t>FastF1 integration → 15K+ laps; wet weather data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6"/>
          <p:cNvSpPr/>
          <p:nvPr/>
        </p:nvSpPr>
        <p:spPr>
          <a:xfrm>
            <a:off x="5577840" y="2030040"/>
            <a:ext cx="3244680" cy="711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17"/>
          <p:cNvSpPr/>
          <p:nvPr/>
        </p:nvSpPr>
        <p:spPr>
          <a:xfrm>
            <a:off x="5577840" y="2030040"/>
            <a:ext cx="62640" cy="711720"/>
          </a:xfrm>
          <a:prstGeom prst="rect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8"/>
          <p:cNvSpPr/>
          <p:nvPr/>
        </p:nvSpPr>
        <p:spPr>
          <a:xfrm>
            <a:off x="5715000" y="2066400"/>
            <a:ext cx="10958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9"/>
          <p:cNvSpPr/>
          <p:nvPr/>
        </p:nvSpPr>
        <p:spPr>
          <a:xfrm>
            <a:off x="5715000" y="2085480"/>
            <a:ext cx="3016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LSTM Upgrade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0"/>
          <p:cNvSpPr/>
          <p:nvPr/>
        </p:nvSpPr>
        <p:spPr>
          <a:xfrm>
            <a:off x="5715000" y="2359080"/>
            <a:ext cx="3016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c8c8c8"/>
                </a:solidFill>
                <a:effectLst/>
                <a:uFillTx/>
                <a:latin typeface="Calibri"/>
                <a:ea typeface="Calibri"/>
              </a:rPr>
              <a:t>Sequential 5-lap window; target R² &gt; 0.95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1"/>
          <p:cNvSpPr/>
          <p:nvPr/>
        </p:nvSpPr>
        <p:spPr>
          <a:xfrm>
            <a:off x="5577840" y="2825640"/>
            <a:ext cx="3244680" cy="711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22"/>
          <p:cNvSpPr/>
          <p:nvPr/>
        </p:nvSpPr>
        <p:spPr>
          <a:xfrm>
            <a:off x="5577840" y="2825640"/>
            <a:ext cx="62640" cy="711720"/>
          </a:xfrm>
          <a:prstGeom prst="rect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3"/>
          <p:cNvSpPr/>
          <p:nvPr/>
        </p:nvSpPr>
        <p:spPr>
          <a:xfrm>
            <a:off x="5715000" y="2862000"/>
            <a:ext cx="10958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4"/>
          <p:cNvSpPr/>
          <p:nvPr/>
        </p:nvSpPr>
        <p:spPr>
          <a:xfrm>
            <a:off x="5715000" y="2881080"/>
            <a:ext cx="3016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Production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5"/>
          <p:cNvSpPr/>
          <p:nvPr/>
        </p:nvSpPr>
        <p:spPr>
          <a:xfrm>
            <a:off x="5715000" y="3154680"/>
            <a:ext cx="3016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c8c8c8"/>
                </a:solidFill>
                <a:effectLst/>
                <a:uFillTx/>
                <a:latin typeface="Calibri"/>
                <a:ea typeface="Calibri"/>
              </a:rPr>
              <a:t>Docker + AWS + SSL; multi-user authentication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26"/>
          <p:cNvSpPr/>
          <p:nvPr/>
        </p:nvSpPr>
        <p:spPr>
          <a:xfrm>
            <a:off x="5577840" y="3620880"/>
            <a:ext cx="3244680" cy="711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27"/>
          <p:cNvSpPr/>
          <p:nvPr/>
        </p:nvSpPr>
        <p:spPr>
          <a:xfrm>
            <a:off x="5577840" y="3620880"/>
            <a:ext cx="62640" cy="711720"/>
          </a:xfrm>
          <a:prstGeom prst="rect">
            <a:avLst/>
          </a:prstGeom>
          <a:solidFill>
            <a:srgbClr val="e8003d"/>
          </a:solidFill>
          <a:ln w="12700">
            <a:solidFill>
              <a:srgbClr val="e80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8"/>
          <p:cNvSpPr/>
          <p:nvPr/>
        </p:nvSpPr>
        <p:spPr>
          <a:xfrm>
            <a:off x="5715000" y="3657600"/>
            <a:ext cx="109584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9"/>
          <p:cNvSpPr/>
          <p:nvPr/>
        </p:nvSpPr>
        <p:spPr>
          <a:xfrm>
            <a:off x="5715000" y="3657600"/>
            <a:ext cx="3016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Expansion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30"/>
          <p:cNvSpPr/>
          <p:nvPr/>
        </p:nvSpPr>
        <p:spPr>
          <a:xfrm>
            <a:off x="5715000" y="3950280"/>
            <a:ext cx="3016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c8c8c8"/>
                </a:solidFill>
                <a:effectLst/>
                <a:uFillTx/>
                <a:latin typeface="Calibri"/>
                <a:ea typeface="Calibri"/>
              </a:rPr>
              <a:t>Karting, iRacing, industrial IoT domains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31"/>
          <p:cNvSpPr/>
          <p:nvPr/>
        </p:nvSpPr>
        <p:spPr>
          <a:xfrm>
            <a:off x="457200" y="4663440"/>
            <a:ext cx="8228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c8c8"/>
                </a:solidFill>
                <a:effectLst/>
                <a:uFillTx/>
                <a:latin typeface="Calibri"/>
                <a:ea typeface="Calibri"/>
              </a:rPr>
              <a:t>Ayaan Ahmad  ·  2023-310-062  ·  Jamia Hamdard  ·  Dept. of Computer Science &amp; Engineering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l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Application>LibreOffice/25.8.5.2$Windows_X86_64 LibreOffice_project/9c8b85f387cc00a89945a79c9e6239f32e450ac2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2026-04-29T10:05:55Z</dcterms:created>
  <dc:creator>Ayaan Ahmad</dc:creator>
  <dc:description/>
  <dc:language>en-US</dc:language>
  <cp:lastModifiedBy/>
  <dcterms:modified xsi:type="dcterms:W3CDTF">2026-05-06T21:27:31Z</dcterms:modified>
  <cp:revision>10</cp:revision>
  <dc:subject>PptxGenJS Presentation</dc:subject>
  <dc:title>Real-Time Telemetry Analytics &amp; Predictive Modelling for Motorsports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